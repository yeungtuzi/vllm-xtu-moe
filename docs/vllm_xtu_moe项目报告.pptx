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4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54"/>
    <p:restoredTop sz="94659"/>
  </p:normalViewPr>
  <p:slideViewPr>
    <p:cSldViewPr snapToGrid="0" snapToObjects="1">
      <p:cViewPr varScale="1">
        <p:scale>
          <a:sx n="146" d="100"/>
          <a:sy n="146" d="100"/>
        </p:scale>
        <p:origin x="100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lk_moe</c:v>
                </c:pt>
              </c:strCache>
            </c:strRef>
          </c:tx>
          <c:spPr>
            <a:solidFill>
              <a:srgbClr val="D6676C"/>
            </a:solidFill>
            <a:ln>
              <a:solidFill>
                <a:srgbClr val="D6676C"/>
              </a:solidFill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E8EEF2"/>
                    </a:solidFill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C=1</c:v>
                </c:pt>
                <c:pt idx="1">
                  <c:v>C=2</c:v>
                </c:pt>
                <c:pt idx="2">
                  <c:v>C=4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41.04</c:v>
                </c:pt>
                <c:pt idx="1">
                  <c:v>59.73</c:v>
                </c:pt>
                <c:pt idx="2">
                  <c:v>86.92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D6676C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C442-B745-B646-00469FE9731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vllm-xtu-moe</c:v>
                </c:pt>
              </c:strCache>
            </c:strRef>
          </c:tx>
          <c:spPr>
            <a:solidFill>
              <a:srgbClr val="97D37E"/>
            </a:solidFill>
            <a:ln>
              <a:solidFill>
                <a:srgbClr val="97D37E"/>
              </a:solidFill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E8EEF2"/>
                    </a:solidFill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C=1</c:v>
                </c:pt>
                <c:pt idx="1">
                  <c:v>C=2</c:v>
                </c:pt>
                <c:pt idx="2">
                  <c:v>C=4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32.67</c:v>
                </c:pt>
                <c:pt idx="1">
                  <c:v>59.89</c:v>
                </c:pt>
                <c:pt idx="2">
                  <c:v>100.16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97D37E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442-B745-B646-00469FE9731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DADB9"/>
                </a:solidFill>
              </a:defRPr>
            </a:pPr>
            <a:endParaRPr lang="zh-CN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0"/>
          <c:min val="0"/>
        </c:scaling>
        <c:delete val="0"/>
        <c:axPos val="l"/>
        <c:majorGridlines>
          <c:spPr>
            <a:ln>
              <a:solidFill>
                <a:srgbClr val="364655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9DADB9"/>
                </a:solidFill>
              </a:defRPr>
            </a:pPr>
            <a:endParaRPr lang="zh-CN"/>
          </a:p>
        </c:txPr>
        <c:crossAx val="-2068027336"/>
        <c:crosses val="autoZero"/>
        <c:crossBetween val="between"/>
        <c:majorUnit val="20"/>
      </c:valAx>
    </c:plotArea>
    <c:legend>
      <c:legendPos val="b"/>
      <c:legendEntry>
        <c:idx val="0"/>
        <c:txPr>
          <a:bodyPr/>
          <a:lstStyle/>
          <a:p>
            <a:pPr>
              <a:defRPr>
                <a:solidFill>
                  <a:schemeClr val="accent2">
                    <a:lumMod val="60000"/>
                    <a:lumOff val="40000"/>
                  </a:schemeClr>
                </a:solidFill>
              </a:defRPr>
            </a:pPr>
            <a:endParaRPr lang="zh-CN"/>
          </a:p>
        </c:txPr>
      </c:legendEntry>
      <c:layout>
        <c:manualLayout>
          <c:xMode val="edge"/>
          <c:yMode val="edge"/>
          <c:x val="0.17991290585204628"/>
          <c:y val="0.14691462909241607"/>
          <c:w val="0.44341477714591232"/>
          <c:h val="8.1155546346180413E-2"/>
        </c:manualLayout>
      </c:layout>
      <c:overlay val="1"/>
      <c:txPr>
        <a:bodyPr/>
        <a:lstStyle/>
        <a:p>
          <a:pPr>
            <a:defRPr>
              <a:solidFill>
                <a:srgbClr val="92D050"/>
              </a:solidFill>
            </a:defRPr>
          </a:pPr>
          <a:endParaRPr lang="zh-CN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overlay val="0"/>
    </c:title>
    <c:autoTitleDeleted val="0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纯 GPU</c:v>
                </c:pt>
              </c:strCache>
            </c:strRef>
          </c:tx>
          <c:spPr>
            <a:solidFill>
              <a:srgbClr val="36C2B5"/>
            </a:solidFill>
            <a:ln>
              <a:solidFill>
                <a:srgbClr val="36C2B5"/>
              </a:solidFill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0E1622"/>
                    </a:solidFill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无优化基线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17.32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36C2B5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082-3941-89A4-9C1595366D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拷贝 / 派发</c:v>
                </c:pt>
              </c:strCache>
            </c:strRef>
          </c:tx>
          <c:spPr>
            <a:solidFill>
              <a:srgbClr val="E6A153"/>
            </a:solidFill>
            <a:ln>
              <a:solidFill>
                <a:srgbClr val="E6A153"/>
              </a:solidFill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0E1622"/>
                    </a:solidFill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无优化基线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2.46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E6A153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082-3941-89A4-9C1595366DC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CPU MoE</c:v>
                </c:pt>
              </c:strCache>
            </c:strRef>
          </c:tx>
          <c:spPr>
            <a:solidFill>
              <a:srgbClr val="97D37E"/>
            </a:solidFill>
            <a:ln>
              <a:solidFill>
                <a:srgbClr val="97D37E"/>
              </a:solidFill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0E1622"/>
                    </a:solidFill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无优化基线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17.55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97D37E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082-3941-89A4-9C1595366D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DADB9"/>
                </a:solidFill>
              </a:defRPr>
            </a:pPr>
            <a:endParaRPr lang="zh-CN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0"/>
        </c:scaling>
        <c:delete val="0"/>
        <c:axPos val="b"/>
        <c:majorGridlines>
          <c:spPr>
            <a:ln>
              <a:solidFill>
                <a:srgbClr val="364655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9DADB9"/>
                </a:solidFill>
              </a:defRPr>
            </a:pPr>
            <a:endParaRPr lang="zh-CN"/>
          </a:p>
        </c:txPr>
        <c:crossAx val="-2068027336"/>
        <c:crosses val="autoZero"/>
        <c:crossBetween val="between"/>
        <c:majorUnit val="10"/>
      </c:valAx>
    </c:plotArea>
    <c:legend>
      <c:legendPos val="b"/>
      <c:overlay val="1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overlay val="0"/>
      <c:txPr>
        <a:bodyPr/>
        <a:lstStyle/>
        <a:p>
          <a:pPr>
            <a:defRPr>
              <a:solidFill>
                <a:schemeClr val="bg1"/>
              </a:solidFill>
            </a:defRPr>
          </a:pPr>
          <a:endParaRPr lang="zh-CN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C=1 TPOT</c:v>
                </c:pt>
              </c:strCache>
            </c:strRef>
          </c:tx>
          <c:spPr>
            <a:ln w="31750">
              <a:solidFill>
                <a:srgbClr val="36C2B5"/>
              </a:solidFill>
            </a:ln>
          </c:spPr>
          <c:marker>
            <c:symbol val="diamond"/>
            <c:size val="8"/>
            <c:spPr>
              <a:solidFill>
                <a:srgbClr val="36C2B5"/>
              </a:solidFill>
              <a:ln>
                <a:solidFill>
                  <a:srgbClr val="36C2B5"/>
                </a:solidFill>
              </a:ln>
            </c:spPr>
          </c:marker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E8EEF2"/>
                    </a:solidFill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起点</c:v>
                </c:pt>
                <c:pt idx="1">
                  <c:v>+5 层常驻</c:v>
                </c:pt>
                <c:pt idx="2">
                  <c:v>+11 层 + PERMV</c:v>
                </c:pt>
                <c:pt idx="3">
                  <c:v>+12 层 + 异步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37.33</c:v>
                </c:pt>
                <c:pt idx="1">
                  <c:v>33.82</c:v>
                </c:pt>
                <c:pt idx="2">
                  <c:v>31.78</c:v>
                </c:pt>
                <c:pt idx="3">
                  <c:v>28.13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C57-2348-8993-DD1B2C92E3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DADB9"/>
                </a:solidFill>
              </a:defRPr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0"/>
          <c:min val="25"/>
        </c:scaling>
        <c:delete val="0"/>
        <c:axPos val="l"/>
        <c:majorGridlines>
          <c:spPr>
            <a:ln>
              <a:solidFill>
                <a:srgbClr val="364655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9DADB9"/>
                </a:solidFill>
              </a:defRPr>
            </a:pPr>
            <a:endParaRPr lang="zh-CN"/>
          </a:p>
        </c:txPr>
        <c:crossAx val="2118791784"/>
        <c:crosses val="autoZero"/>
        <c:crossBetween val="between"/>
        <c:majorUnit val="5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77240" y="804672"/>
            <a:ext cx="91440" cy="164592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777240"/>
            <a:ext cx="1033272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600" b="1">
                <a:solidFill>
                  <a:srgbClr val="E8EEF2"/>
                </a:solidFill>
                <a:latin typeface="Microsoft YaHei"/>
              </a:rPr>
              <a:t>vllm-xtu-moe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1435608"/>
            <a:ext cx="102412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1">
                <a:solidFill>
                  <a:srgbClr val="36C2B5"/>
                </a:solidFill>
                <a:latin typeface="Microsoft YaHei"/>
              </a:rPr>
              <a:t>在廉价 CPU + GPU 异构设备上运行超大 MoE 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029968"/>
            <a:ext cx="96926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0">
                <a:solidFill>
                  <a:srgbClr val="9DADB9"/>
                </a:solidFill>
                <a:latin typeface="Microsoft YaHei"/>
              </a:rPr>
              <a:t>开源、可改造、可观测的混合推理实现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2880360"/>
            <a:ext cx="10058400" cy="822960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53312" y="3127248"/>
            <a:ext cx="95097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E8EEF2"/>
                </a:solidFill>
                <a:latin typeface="Microsoft YaHei"/>
              </a:rPr>
              <a:t>2×A100-40GB + 2×EPYC 9654  ·  C=4 聚合 100.16 tok/s  ·  同机专有引擎的 1.15×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251960"/>
            <a:ext cx="265176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500" b="1">
                <a:solidFill>
                  <a:srgbClr val="36C2B5"/>
                </a:solidFill>
                <a:latin typeface="Microsoft YaHei"/>
              </a:rPr>
              <a:t>28.13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54880"/>
            <a:ext cx="26517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C=1 TPOT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1560" y="5166360"/>
            <a:ext cx="2377440" cy="0"/>
          </a:xfrm>
          <a:prstGeom prst="line">
            <a:avLst/>
          </a:prstGeom>
          <a:ln w="25400">
            <a:solidFill>
              <a:srgbClr val="36C2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297679" y="4251960"/>
            <a:ext cx="265176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500" b="1">
                <a:solidFill>
                  <a:srgbClr val="699DD5"/>
                </a:solidFill>
                <a:latin typeface="Microsoft YaHei"/>
              </a:rPr>
              <a:t>59.89 t/s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4754880"/>
            <a:ext cx="26517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C=2 聚合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297679" y="5166360"/>
            <a:ext cx="2377440" cy="0"/>
          </a:xfrm>
          <a:prstGeom prst="line">
            <a:avLst/>
          </a:prstGeom>
          <a:ln w="25400">
            <a:solidFill>
              <a:srgbClr val="699D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43800" y="4251960"/>
            <a:ext cx="265176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500" b="1">
                <a:solidFill>
                  <a:srgbClr val="97D37E"/>
                </a:solidFill>
                <a:latin typeface="Microsoft YaHei"/>
              </a:rPr>
              <a:t>100.16 t/s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4754880"/>
            <a:ext cx="26517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C=4 聚合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43800" y="5166360"/>
            <a:ext cx="2377440" cy="0"/>
          </a:xfrm>
          <a:prstGeom prst="line">
            <a:avLst/>
          </a:prstGeom>
          <a:ln w="25400">
            <a:solidFill>
              <a:srgbClr val="97D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1560" y="5897880"/>
            <a:ext cx="64008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刘锋  ·  2026-09-15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5897880"/>
            <a:ext cx="25603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100" b="0">
                <a:solidFill>
                  <a:srgbClr val="9DADB9"/>
                </a:solidFill>
                <a:latin typeface="Microsoft YaHei"/>
              </a:rPr>
              <a:t>中国开源软件协会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技术宣讲 · 数据均为本机实测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1097280"/>
            <a:ext cx="9144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800" b="1">
                <a:solidFill>
                  <a:srgbClr val="36C2B5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9966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400" b="1">
                <a:solidFill>
                  <a:srgbClr val="E8EEF2"/>
                </a:solidFill>
                <a:latin typeface="Microsoft YaHei"/>
              </a:rPr>
              <a:t>为什么做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80360"/>
            <a:ext cx="886968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0">
                <a:solidFill>
                  <a:srgbClr val="9DADB9"/>
                </a:solidFill>
                <a:latin typeface="Microsoft YaHei"/>
              </a:rPr>
              <a:t>算力成本与可研究性，决定了这条技术路线。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1248" y="3840480"/>
            <a:ext cx="2816352" cy="0"/>
          </a:xfrm>
          <a:prstGeom prst="line">
            <a:avLst/>
          </a:prstGeom>
          <a:ln w="25400">
            <a:solidFill>
              <a:srgbClr val="36C2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41248" y="5989320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vllm-xtu-moe  ·  刘锋  ·  2026-09-15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技术宣讲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>
                <a:solidFill>
                  <a:srgbClr val="36C2B5"/>
                </a:solidFill>
                <a:latin typeface="Microsoft YaHei"/>
              </a:rPr>
              <a:t>01 /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600" b="1">
                <a:solidFill>
                  <a:srgbClr val="E8EEF2"/>
                </a:solidFill>
                <a:latin typeface="Microsoft YaHei"/>
              </a:rPr>
              <a:t>同一代模型，设备门槛相差一个数量级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4241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目标是单人和小组“够用”，不是追求集群榜单。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828800"/>
            <a:ext cx="3154680" cy="1234440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029968"/>
            <a:ext cx="2743200" cy="49859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n-US" sz="3000" b="1" dirty="0">
                <a:solidFill>
                  <a:srgbClr val="D6676C"/>
                </a:solidFill>
                <a:latin typeface="Microsoft YaHei"/>
              </a:rPr>
              <a:t>300-1400万</a:t>
            </a:r>
            <a:endParaRPr sz="3000" b="1" dirty="0">
              <a:solidFill>
                <a:srgbClr val="D6676C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05840" y="2587752"/>
            <a:ext cx="2743200" cy="2062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dirty="0">
                <a:solidFill>
                  <a:srgbClr val="9DADB9"/>
                </a:solidFill>
                <a:latin typeface="Microsoft YaHei"/>
              </a:rPr>
              <a:t>H200</a:t>
            </a:r>
            <a:r>
              <a:rPr lang="en-US" altLang="zh-CN" sz="1100" b="0" dirty="0">
                <a:solidFill>
                  <a:srgbClr val="9DADB9"/>
                </a:solidFill>
                <a:latin typeface="Microsoft YaHei"/>
              </a:rPr>
              <a:t>/B300</a:t>
            </a:r>
            <a:r>
              <a:rPr sz="1100" b="0" dirty="0">
                <a:solidFill>
                  <a:srgbClr val="9DADB9"/>
                </a:solidFill>
                <a:latin typeface="Microsoft YaHei"/>
              </a:rPr>
              <a:t> </a:t>
            </a:r>
            <a:r>
              <a:rPr lang="zh-CN" altLang="en-US" sz="1100" b="0" dirty="0">
                <a:solidFill>
                  <a:srgbClr val="9DADB9"/>
                </a:solidFill>
                <a:latin typeface="Microsoft YaHei"/>
              </a:rPr>
              <a:t>生产级</a:t>
            </a:r>
            <a:endParaRPr sz="1100" b="0" dirty="0">
              <a:solidFill>
                <a:srgbClr val="9DADB9"/>
              </a:solidFill>
              <a:latin typeface="Microsoft YaHe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26280" y="1828800"/>
            <a:ext cx="3154680" cy="1234440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09160" y="2029968"/>
            <a:ext cx="2743200" cy="49859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n-US" altLang="zh-CN" sz="3000" b="1" dirty="0">
                <a:solidFill>
                  <a:srgbClr val="36C2B5"/>
                </a:solidFill>
                <a:latin typeface="Microsoft YaHei"/>
              </a:rPr>
              <a:t>30-50</a:t>
            </a:r>
            <a:r>
              <a:rPr lang="zh-CN" altLang="en-US" sz="3000" b="1" dirty="0">
                <a:solidFill>
                  <a:srgbClr val="36C2B5"/>
                </a:solidFill>
                <a:latin typeface="Microsoft YaHei"/>
              </a:rPr>
              <a:t>万</a:t>
            </a:r>
            <a:endParaRPr sz="3000" b="1" dirty="0">
              <a:solidFill>
                <a:srgbClr val="36C2B5"/>
              </a:solidFill>
              <a:latin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709160" y="2587752"/>
            <a:ext cx="2743200" cy="37548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n-US" altLang="zh-CN" sz="1100" b="0" dirty="0">
                <a:solidFill>
                  <a:srgbClr val="9DADB9"/>
                </a:solidFill>
                <a:latin typeface="Microsoft YaHei"/>
              </a:rPr>
              <a:t>2x</a:t>
            </a:r>
            <a:r>
              <a:rPr lang="zh-CN" altLang="en-US" sz="1100" b="0" dirty="0">
                <a:solidFill>
                  <a:srgbClr val="9DADB9"/>
                </a:solidFill>
                <a:latin typeface="Microsoft YaHei"/>
              </a:rPr>
              <a:t> </a:t>
            </a:r>
            <a:r>
              <a:rPr sz="1100" b="0" dirty="0">
                <a:solidFill>
                  <a:srgbClr val="9DADB9"/>
                </a:solidFill>
                <a:latin typeface="Microsoft YaHei"/>
              </a:rPr>
              <a:t>A100-40GB，本项目实测</a:t>
            </a:r>
            <a:endParaRPr lang="en-US" sz="1100" b="0" dirty="0">
              <a:solidFill>
                <a:srgbClr val="9DADB9"/>
              </a:solidFill>
              <a:latin typeface="Microsoft YaHei"/>
            </a:endParaRPr>
          </a:p>
          <a:p>
            <a:pPr algn="l"/>
            <a:r>
              <a:rPr lang="en-US" altLang="zh-CN" sz="1100" dirty="0">
                <a:solidFill>
                  <a:srgbClr val="9DADB9"/>
                </a:solidFill>
                <a:latin typeface="Microsoft YaHei"/>
              </a:rPr>
              <a:t>RTX</a:t>
            </a:r>
            <a:r>
              <a:rPr lang="zh-CN" altLang="en-US" sz="1100" dirty="0">
                <a:solidFill>
                  <a:srgbClr val="9DADB9"/>
                </a:solidFill>
                <a:latin typeface="Microsoft YaHei"/>
              </a:rPr>
              <a:t> </a:t>
            </a:r>
            <a:r>
              <a:rPr lang="en-US" altLang="zh-CN" sz="1100" dirty="0">
                <a:solidFill>
                  <a:srgbClr val="9DADB9"/>
                </a:solidFill>
                <a:latin typeface="Microsoft YaHei"/>
              </a:rPr>
              <a:t>Pro</a:t>
            </a:r>
            <a:r>
              <a:rPr lang="zh-CN" altLang="en-US" sz="1100" dirty="0">
                <a:solidFill>
                  <a:srgbClr val="9DADB9"/>
                </a:solidFill>
                <a:latin typeface="Microsoft YaHei"/>
              </a:rPr>
              <a:t> </a:t>
            </a:r>
            <a:r>
              <a:rPr lang="en-US" altLang="zh-CN" sz="1100" dirty="0">
                <a:solidFill>
                  <a:srgbClr val="9DADB9"/>
                </a:solidFill>
                <a:latin typeface="Microsoft YaHei"/>
              </a:rPr>
              <a:t>6000</a:t>
            </a:r>
            <a:r>
              <a:rPr lang="zh-CN" altLang="en-US" sz="1100" dirty="0">
                <a:solidFill>
                  <a:srgbClr val="9DADB9"/>
                </a:solidFill>
                <a:latin typeface="Microsoft YaHei"/>
              </a:rPr>
              <a:t> 性能最佳</a:t>
            </a:r>
            <a:endParaRPr sz="1100" b="0" dirty="0">
              <a:solidFill>
                <a:srgbClr val="9DADB9"/>
              </a:solidFill>
              <a:latin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29600" y="1828800"/>
            <a:ext cx="3154680" cy="1234440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2029968"/>
            <a:ext cx="2743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000" b="1" dirty="0">
                <a:solidFill>
                  <a:srgbClr val="97D37E"/>
                </a:solidFill>
                <a:latin typeface="Microsoft YaHei"/>
              </a:rPr>
              <a:t>≈1/10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587752"/>
            <a:ext cx="27432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dirty="0" err="1">
                <a:solidFill>
                  <a:srgbClr val="9DADB9"/>
                </a:solidFill>
                <a:latin typeface="Microsoft YaHei"/>
              </a:rPr>
              <a:t>显存规模与成本量级</a:t>
            </a:r>
            <a:endParaRPr sz="1100" b="0" dirty="0">
              <a:solidFill>
                <a:srgbClr val="9DADB9"/>
              </a:solidFill>
              <a:latin typeface="Microsoft YaHe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822960" y="3520440"/>
            <a:ext cx="5074920" cy="1920240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1560" y="3749039"/>
            <a:ext cx="44805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36C2B5"/>
                </a:solidFill>
                <a:latin typeface="Microsoft YaHei"/>
              </a:rPr>
              <a:t>可用标准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206240"/>
            <a:ext cx="4297680" cy="71404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1" dirty="0" err="1">
                <a:solidFill>
                  <a:srgbClr val="E8EEF2"/>
                </a:solidFill>
                <a:latin typeface="Microsoft YaHei"/>
              </a:rPr>
              <a:t>单流</a:t>
            </a:r>
            <a:r>
              <a:rPr sz="2200" b="1" dirty="0">
                <a:solidFill>
                  <a:srgbClr val="E8EEF2"/>
                </a:solidFill>
                <a:latin typeface="Microsoft YaHei"/>
              </a:rPr>
              <a:t> 20–40 </a:t>
            </a:r>
            <a:r>
              <a:rPr sz="2200" b="1" dirty="0" err="1">
                <a:solidFill>
                  <a:srgbClr val="E8EEF2"/>
                </a:solidFill>
                <a:latin typeface="Microsoft YaHei"/>
              </a:rPr>
              <a:t>tok</a:t>
            </a:r>
            <a:r>
              <a:rPr sz="2200" b="1" dirty="0">
                <a:solidFill>
                  <a:srgbClr val="E8EEF2"/>
                </a:solidFill>
                <a:latin typeface="Microsoft YaHei"/>
              </a:rPr>
              <a:t>/s
</a:t>
            </a:r>
            <a:r>
              <a:rPr sz="2200" b="1" dirty="0" err="1">
                <a:solidFill>
                  <a:srgbClr val="E8EEF2"/>
                </a:solidFill>
                <a:latin typeface="Microsoft YaHei"/>
              </a:rPr>
              <a:t>并发</a:t>
            </a:r>
            <a:r>
              <a:rPr sz="2200" b="1" dirty="0">
                <a:solidFill>
                  <a:srgbClr val="E8EEF2"/>
                </a:solidFill>
                <a:latin typeface="Microsoft YaHei"/>
              </a:rPr>
              <a:t> 60–1</a:t>
            </a:r>
            <a:r>
              <a:rPr lang="en-US" altLang="zh-CN" sz="2200" b="1" dirty="0">
                <a:solidFill>
                  <a:srgbClr val="E8EEF2"/>
                </a:solidFill>
                <a:latin typeface="Microsoft YaHei"/>
              </a:rPr>
              <a:t>5</a:t>
            </a:r>
            <a:r>
              <a:rPr sz="2200" b="1" dirty="0">
                <a:solidFill>
                  <a:srgbClr val="E8EEF2"/>
                </a:solidFill>
                <a:latin typeface="Microsoft YaHei"/>
              </a:rPr>
              <a:t>0 </a:t>
            </a:r>
            <a:r>
              <a:rPr sz="2200" b="1" dirty="0" err="1">
                <a:solidFill>
                  <a:srgbClr val="E8EEF2"/>
                </a:solidFill>
                <a:latin typeface="Microsoft YaHei"/>
              </a:rPr>
              <a:t>tok</a:t>
            </a:r>
            <a:r>
              <a:rPr sz="2200" b="1" dirty="0">
                <a:solidFill>
                  <a:srgbClr val="E8EEF2"/>
                </a:solidFill>
                <a:latin typeface="Microsoft YaHei"/>
              </a:rPr>
              <a:t>/s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520440"/>
            <a:ext cx="5074920" cy="1920240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46520" y="3749039"/>
            <a:ext cx="44805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E6A153"/>
                </a:solidFill>
                <a:latin typeface="Microsoft YaHei"/>
              </a:rPr>
              <a:t>目标用户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178808"/>
            <a:ext cx="448056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700" b="1">
                <a:solidFill>
                  <a:srgbClr val="E8EEF2"/>
                </a:solidFill>
                <a:latin typeface="Microsoft YaHei"/>
              </a:rPr>
              <a:t>科研、教学、小型实体应用
以及高信息安全要求的私有化部署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>
                <a:solidFill>
                  <a:srgbClr val="36C2B5"/>
                </a:solidFill>
                <a:latin typeface="Microsoft YaHei"/>
              </a:rPr>
              <a:t>01 /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600" b="1">
                <a:solidFill>
                  <a:srgbClr val="E8EEF2"/>
                </a:solidFill>
                <a:latin typeface="Microsoft YaHei"/>
              </a:rPr>
              <a:t>把专家权重放在 CPU / DRAM，价值不只是省显存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4241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它让路由、激活和安全检查进入可观测的主机路径。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783080"/>
            <a:ext cx="5074920" cy="3977639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78992" y="2029968"/>
            <a:ext cx="44805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>
                <a:solidFill>
                  <a:srgbClr val="9DADB9"/>
                </a:solidFill>
                <a:latin typeface="Microsoft YaHei"/>
              </a:rPr>
              <a:t>GPU-only / 典型 offload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542032"/>
            <a:ext cx="4389120" cy="43891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300" b="1">
                <a:solidFill>
                  <a:srgbClr val="D6676C"/>
                </a:solidFill>
                <a:latin typeface="Microsoft YaHei"/>
              </a:rPr>
              <a:t>CPU 主要承担显存扩展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3273552"/>
            <a:ext cx="4389120" cy="1463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0">
                <a:solidFill>
                  <a:srgbClr val="E8EEF2"/>
                </a:solidFill>
                <a:latin typeface="Microsoft YaHei"/>
              </a:rPr>
              <a:t>权重按需搬到 GPU
最终仍在 GPU 上计算
中间过程难插桩、难复盘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074920" cy="3977639"/>
          </a:xfrm>
          <a:prstGeom prst="rect">
            <a:avLst/>
          </a:prstGeom>
          <a:solidFill>
            <a:srgbClr val="182B30"/>
          </a:solidFill>
          <a:ln>
            <a:solidFill>
              <a:srgbClr val="182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0528" y="2029968"/>
            <a:ext cx="44805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>
                <a:solidFill>
                  <a:srgbClr val="36C2B5"/>
                </a:solidFill>
                <a:latin typeface="Microsoft YaHei"/>
              </a:rPr>
              <a:t>vllm-xtu-moe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542032"/>
            <a:ext cx="4389120" cy="43891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300" b="1">
                <a:solidFill>
                  <a:srgbClr val="97D37E"/>
                </a:solidFill>
                <a:latin typeface="Microsoft YaHei"/>
              </a:rPr>
              <a:t>CPU 真正计算专家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3273552"/>
            <a:ext cx="4389120" cy="1554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0" dirty="0" err="1">
                <a:solidFill>
                  <a:srgbClr val="E8EEF2"/>
                </a:solidFill>
                <a:latin typeface="Microsoft YaHei"/>
              </a:rPr>
              <a:t>逐层统计专家路由与激活</a:t>
            </a:r>
            <a:r>
              <a:rPr sz="1600" b="0" dirty="0">
                <a:solidFill>
                  <a:srgbClr val="E8EEF2"/>
                </a:solidFill>
                <a:latin typeface="Microsoft YaHei"/>
              </a:rPr>
              <a:t>
</a:t>
            </a:r>
            <a:r>
              <a:rPr sz="1600" b="0" dirty="0" err="1">
                <a:solidFill>
                  <a:srgbClr val="E8EEF2"/>
                </a:solidFill>
                <a:latin typeface="Microsoft YaHei"/>
              </a:rPr>
              <a:t>权重进</a:t>
            </a:r>
            <a:r>
              <a:rPr sz="1600" b="0" dirty="0">
                <a:solidFill>
                  <a:srgbClr val="E8EEF2"/>
                </a:solidFill>
                <a:latin typeface="Microsoft YaHei"/>
              </a:rPr>
              <a:t> GPU </a:t>
            </a:r>
            <a:r>
              <a:rPr sz="1600" b="0" dirty="0" err="1">
                <a:solidFill>
                  <a:srgbClr val="E8EEF2"/>
                </a:solidFill>
                <a:latin typeface="Microsoft YaHei"/>
              </a:rPr>
              <a:t>前可插入审计</a:t>
            </a:r>
            <a:r>
              <a:rPr sz="1600" b="0" dirty="0">
                <a:solidFill>
                  <a:srgbClr val="E8EEF2"/>
                </a:solidFill>
                <a:latin typeface="Microsoft YaHei"/>
              </a:rPr>
              <a:t>
C++ / AVX-512 </a:t>
            </a:r>
            <a:r>
              <a:rPr sz="1600" b="0" dirty="0" err="1">
                <a:solidFill>
                  <a:srgbClr val="E8EEF2"/>
                </a:solidFill>
                <a:latin typeface="Microsoft YaHei"/>
              </a:rPr>
              <a:t>内核可改造</a:t>
            </a:r>
            <a:endParaRPr sz="1600" b="0" dirty="0">
              <a:solidFill>
                <a:srgbClr val="E8EEF2"/>
              </a:solidFill>
              <a:latin typeface="Microsoft YaHei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>
                <a:solidFill>
                  <a:srgbClr val="36C2B5"/>
                </a:solidFill>
                <a:latin typeface="Microsoft YaHei"/>
              </a:rPr>
              <a:t>01 /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600" b="1">
                <a:solidFill>
                  <a:srgbClr val="E8EEF2"/>
                </a:solidFill>
                <a:latin typeface="Microsoft YaHei"/>
              </a:rPr>
              <a:t>现有方案各有侧重，空白点在右上角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4241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开源、CPU 真算、服务器级 AMD 平台、同机性能对标。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1783080"/>
            <a:ext cx="8732520" cy="3977639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828800" y="5257800"/>
            <a:ext cx="7452360" cy="0"/>
          </a:xfrm>
          <a:prstGeom prst="line">
            <a:avLst/>
          </a:prstGeom>
          <a:ln w="12700">
            <a:solidFill>
              <a:srgbClr val="9DAD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828800" y="2167563"/>
            <a:ext cx="0" cy="3108960"/>
          </a:xfrm>
          <a:prstGeom prst="line">
            <a:avLst/>
          </a:prstGeom>
          <a:ln w="12700">
            <a:solidFill>
              <a:srgbClr val="9DAD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920240" y="5394960"/>
            <a:ext cx="45720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>
                <a:solidFill>
                  <a:srgbClr val="9DADB9"/>
                </a:solidFill>
                <a:latin typeface="Microsoft YaHei"/>
              </a:rPr>
              <a:t>闭源 / 专有  →  开源 / 可改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6587" y="2256391"/>
            <a:ext cx="320040" cy="2468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0">
                <a:solidFill>
                  <a:srgbClr val="9DADB9"/>
                </a:solidFill>
                <a:latin typeface="Microsoft YaHei"/>
              </a:rPr>
              <a:t>CPU
参与
计算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2307" y="4935583"/>
            <a:ext cx="3200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>
                <a:solidFill>
                  <a:srgbClr val="9DADB9"/>
                </a:solidFill>
                <a:latin typeface="Microsoft YaHei"/>
              </a:rPr>
              <a:t>GPU-only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3800" y="4480559"/>
            <a:ext cx="1737360" cy="475488"/>
          </a:xfrm>
          <a:prstGeom prst="rect">
            <a:avLst/>
          </a:prstGeom>
          <a:solidFill>
            <a:srgbClr val="699DD5"/>
          </a:solidFill>
          <a:ln>
            <a:solidFill>
              <a:srgbClr val="699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43800" y="4608575"/>
            <a:ext cx="17373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>
                <a:solidFill>
                  <a:srgbClr val="0E1622"/>
                </a:solidFill>
                <a:latin typeface="Microsoft YaHei"/>
              </a:rPr>
              <a:t>vLLM 主线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5074919"/>
            <a:ext cx="201168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>
                <a:solidFill>
                  <a:srgbClr val="9DADB9"/>
                </a:solidFill>
                <a:latin typeface="Microsoft YaHei"/>
              </a:rPr>
              <a:t>CPU=显存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43800" y="3175472"/>
            <a:ext cx="1737360" cy="475488"/>
          </a:xfrm>
          <a:prstGeom prst="rect">
            <a:avLst/>
          </a:prstGeom>
          <a:solidFill>
            <a:srgbClr val="E6A153"/>
          </a:solidFill>
          <a:ln>
            <a:solidFill>
              <a:srgbClr val="E6A1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43800" y="3303488"/>
            <a:ext cx="17373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dirty="0" err="1">
                <a:solidFill>
                  <a:srgbClr val="0E1622"/>
                </a:solidFill>
                <a:latin typeface="Microsoft YaHei"/>
              </a:rPr>
              <a:t>ktransformers</a:t>
            </a:r>
            <a:endParaRPr sz="1100" b="1" dirty="0">
              <a:solidFill>
                <a:srgbClr val="0E1622"/>
              </a:solidFill>
              <a:latin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406640" y="3769832"/>
            <a:ext cx="201168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dirty="0">
                <a:solidFill>
                  <a:srgbClr val="9DADB9"/>
                </a:solidFill>
                <a:latin typeface="Microsoft YaHei"/>
              </a:rPr>
              <a:t>AMX / </a:t>
            </a:r>
            <a:r>
              <a:rPr sz="900" b="0" dirty="0" err="1">
                <a:solidFill>
                  <a:srgbClr val="9DADB9"/>
                </a:solidFill>
                <a:latin typeface="Microsoft YaHei"/>
              </a:rPr>
              <a:t>SGLang</a:t>
            </a:r>
            <a:r>
              <a:rPr lang="en-US" sz="900" b="0" dirty="0">
                <a:solidFill>
                  <a:srgbClr val="9DADB9"/>
                </a:solidFill>
                <a:latin typeface="Microsoft YaHei"/>
              </a:rPr>
              <a:t> /</a:t>
            </a:r>
            <a:r>
              <a:rPr lang="zh-CN" altLang="en-US" sz="900" b="0" dirty="0">
                <a:solidFill>
                  <a:srgbClr val="9DADB9"/>
                </a:solidFill>
                <a:latin typeface="Microsoft YaHei"/>
              </a:rPr>
              <a:t> 重心转移</a:t>
            </a:r>
            <a:endParaRPr sz="900" b="0" dirty="0">
              <a:solidFill>
                <a:srgbClr val="9DADB9"/>
              </a:solidFill>
              <a:latin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938528" y="2331720"/>
            <a:ext cx="1737360" cy="475488"/>
          </a:xfrm>
          <a:prstGeom prst="rect">
            <a:avLst/>
          </a:prstGeom>
          <a:solidFill>
            <a:srgbClr val="D6676C"/>
          </a:solidFill>
          <a:ln>
            <a:solidFill>
              <a:srgbClr val="D667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920240" y="2487168"/>
            <a:ext cx="17373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dirty="0" err="1">
                <a:solidFill>
                  <a:srgbClr val="0E1622"/>
                </a:solidFill>
                <a:latin typeface="Microsoft YaHei"/>
              </a:rPr>
              <a:t>lk_moe</a:t>
            </a:r>
            <a:endParaRPr sz="1100" b="1" dirty="0">
              <a:solidFill>
                <a:srgbClr val="0E1622"/>
              </a:solidFill>
              <a:latin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801368" y="2926080"/>
            <a:ext cx="2011680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dirty="0" err="1">
                <a:solidFill>
                  <a:srgbClr val="9DADB9"/>
                </a:solidFill>
                <a:latin typeface="Microsoft YaHei"/>
              </a:rPr>
              <a:t>性能</a:t>
            </a:r>
            <a:r>
              <a:rPr lang="en-US" sz="900" dirty="0" err="1">
                <a:solidFill>
                  <a:srgbClr val="9DADB9"/>
                </a:solidFill>
                <a:latin typeface="Microsoft YaHei"/>
              </a:rPr>
              <a:t>好</a:t>
            </a:r>
            <a:r>
              <a:rPr sz="900" b="0" dirty="0" err="1">
                <a:solidFill>
                  <a:srgbClr val="9DADB9"/>
                </a:solidFill>
                <a:latin typeface="Microsoft YaHei"/>
              </a:rPr>
              <a:t>·闭源</a:t>
            </a:r>
            <a:endParaRPr sz="900" b="0" dirty="0">
              <a:solidFill>
                <a:srgbClr val="9DADB9"/>
              </a:solidFill>
              <a:latin typeface="Microsoft YaHe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488936" y="2350988"/>
            <a:ext cx="1737360" cy="475488"/>
          </a:xfrm>
          <a:prstGeom prst="rect">
            <a:avLst/>
          </a:prstGeom>
          <a:solidFill>
            <a:srgbClr val="97D37E"/>
          </a:solidFill>
          <a:ln>
            <a:solidFill>
              <a:srgbClr val="97D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88936" y="2479004"/>
            <a:ext cx="17373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>
                <a:solidFill>
                  <a:srgbClr val="0E1622"/>
                </a:solidFill>
                <a:latin typeface="Microsoft YaHei"/>
              </a:rPr>
              <a:t>vllm-xtu-moe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51776" y="2945347"/>
            <a:ext cx="201168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>
                <a:solidFill>
                  <a:srgbClr val="9DADB9"/>
                </a:solidFill>
                <a:latin typeface="Microsoft YaHei"/>
              </a:rPr>
              <a:t>CPU 真算·开源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0" y="1828800"/>
            <a:ext cx="1371600" cy="3840480"/>
          </a:xfrm>
          <a:prstGeom prst="rect">
            <a:avLst/>
          </a:prstGeom>
          <a:solidFill>
            <a:srgbClr val="182B30"/>
          </a:solidFill>
          <a:ln>
            <a:solidFill>
              <a:srgbClr val="182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378440" y="2176272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400" b="1">
                <a:solidFill>
                  <a:srgbClr val="97D37E"/>
                </a:solidFill>
                <a:latin typeface="Microsoft YaHei"/>
              </a:rPr>
              <a:t>本项目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14432" y="2743200"/>
            <a:ext cx="1051560" cy="1325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400" b="1">
                <a:solidFill>
                  <a:srgbClr val="E8EEF2"/>
                </a:solidFill>
                <a:latin typeface="Microsoft YaHei"/>
              </a:rPr>
              <a:t>开放
可观测
可改造
能对标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1097280"/>
            <a:ext cx="9144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800" b="1">
                <a:solidFill>
                  <a:srgbClr val="36C2B5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9966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400" b="1">
                <a:solidFill>
                  <a:srgbClr val="E8EEF2"/>
                </a:solidFill>
                <a:latin typeface="Microsoft YaHei"/>
              </a:rPr>
              <a:t>怎么做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80360"/>
            <a:ext cx="886968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0">
                <a:solidFill>
                  <a:srgbClr val="9DADB9"/>
                </a:solidFill>
                <a:latin typeface="Microsoft YaHei"/>
              </a:rPr>
              <a:t>把 MoE 层劈开，再用工程手段补回路径开销。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1248" y="3840480"/>
            <a:ext cx="2816352" cy="0"/>
          </a:xfrm>
          <a:prstGeom prst="line">
            <a:avLst/>
          </a:prstGeom>
          <a:ln w="25400">
            <a:solidFill>
              <a:srgbClr val="36C2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41248" y="5989320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vllm-xtu-moe  ·  刘锋  ·  2026-09-15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技术宣讲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>
                <a:solidFill>
                  <a:srgbClr val="36C2B5"/>
                </a:solidFill>
                <a:latin typeface="Microsoft YaHei"/>
              </a:rPr>
              <a:t>02 /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600" b="1">
                <a:solidFill>
                  <a:srgbClr val="E8EEF2"/>
                </a:solidFill>
                <a:latin typeface="Microsoft YaHei"/>
              </a:rPr>
              <a:t>系统架构：注意力留在 GPU，专家计算在 CPU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4241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模型并行的边界清晰，数据交换集中在少数几条路径。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3840480" cy="3383280"/>
          </a:xfrm>
          <a:prstGeom prst="rect">
            <a:avLst/>
          </a:prstGeom>
          <a:solidFill>
            <a:srgbClr val="182B30"/>
          </a:solidFill>
          <a:ln>
            <a:solidFill>
              <a:srgbClr val="182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084831"/>
            <a:ext cx="3200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>
                <a:solidFill>
                  <a:srgbClr val="36C2B5"/>
                </a:solidFill>
                <a:latin typeface="Microsoft YaHei"/>
              </a:rPr>
              <a:t>GPU · 2×A100-40GB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2697480"/>
            <a:ext cx="3291840" cy="411480"/>
          </a:xfrm>
          <a:prstGeom prst="rect">
            <a:avLst/>
          </a:prstGeom>
          <a:solidFill>
            <a:srgbClr val="234246"/>
          </a:solidFill>
          <a:ln>
            <a:solidFill>
              <a:srgbClr val="234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2807208"/>
            <a:ext cx="32004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E8EEF2"/>
                </a:solidFill>
                <a:latin typeface="Microsoft YaHei"/>
              </a:rPr>
              <a:t>Attention / KV cache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3355848"/>
            <a:ext cx="3291840" cy="411480"/>
          </a:xfrm>
          <a:prstGeom prst="rect">
            <a:avLst/>
          </a:prstGeom>
          <a:solidFill>
            <a:srgbClr val="234246"/>
          </a:solidFill>
          <a:ln>
            <a:solidFill>
              <a:srgbClr val="234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3465576"/>
            <a:ext cx="32004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E8EEF2"/>
                </a:solidFill>
                <a:latin typeface="Microsoft YaHei"/>
              </a:rPr>
              <a:t>Dense layers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4014216"/>
            <a:ext cx="3291840" cy="411480"/>
          </a:xfrm>
          <a:prstGeom prst="rect">
            <a:avLst/>
          </a:prstGeom>
          <a:solidFill>
            <a:srgbClr val="234246"/>
          </a:solidFill>
          <a:ln>
            <a:solidFill>
              <a:srgbClr val="234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123944"/>
            <a:ext cx="32004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E8EEF2"/>
                </a:solidFill>
                <a:latin typeface="Microsoft YaHei"/>
              </a:rPr>
              <a:t>GPU 常驻 MoE（最多 12 层）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1828800"/>
            <a:ext cx="3840480" cy="3383280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18120" y="2084831"/>
            <a:ext cx="3200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>
                <a:solidFill>
                  <a:srgbClr val="97D37E"/>
                </a:solidFill>
                <a:latin typeface="Microsoft YaHei"/>
              </a:rPr>
              <a:t>CPU · 2×EPYC 9654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18120" y="2697480"/>
            <a:ext cx="3291840" cy="411480"/>
          </a:xfrm>
          <a:prstGeom prst="rect">
            <a:avLst/>
          </a:prstGeom>
          <a:solidFill>
            <a:srgbClr val="2D392B"/>
          </a:solidFill>
          <a:ln>
            <a:solidFill>
              <a:srgbClr val="2D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63840" y="2807208"/>
            <a:ext cx="32004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E8EEF2"/>
                </a:solidFill>
                <a:latin typeface="Microsoft YaHei"/>
              </a:rPr>
              <a:t>256 experts · top-6 路由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3355848"/>
            <a:ext cx="3291840" cy="411480"/>
          </a:xfrm>
          <a:prstGeom prst="rect">
            <a:avLst/>
          </a:prstGeom>
          <a:solidFill>
            <a:srgbClr val="2D392B"/>
          </a:solidFill>
          <a:ln>
            <a:solidFill>
              <a:srgbClr val="2D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0" y="3465576"/>
            <a:ext cx="32004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E8EEF2"/>
                </a:solidFill>
                <a:latin typeface="Microsoft YaHei"/>
              </a:rPr>
              <a:t>AVX-512 BF16 + MXFP4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18120" y="4014216"/>
            <a:ext cx="3291840" cy="411480"/>
          </a:xfrm>
          <a:prstGeom prst="rect">
            <a:avLst/>
          </a:prstGeom>
          <a:solidFill>
            <a:srgbClr val="2D392B"/>
          </a:solidFill>
          <a:ln>
            <a:solidFill>
              <a:srgbClr val="2D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863840" y="4123944"/>
            <a:ext cx="32004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E8EEF2"/>
                </a:solidFill>
                <a:latin typeface="Microsoft YaHei"/>
              </a:rPr>
              <a:t>NUMA 分片 · 本地内存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617720" y="2971800"/>
            <a:ext cx="2880359" cy="0"/>
          </a:xfrm>
          <a:prstGeom prst="line">
            <a:avLst/>
          </a:prstGeom>
          <a:ln w="25400">
            <a:solidFill>
              <a:srgbClr val="36C2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800600" y="2523744"/>
            <a:ext cx="25146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>
                <a:solidFill>
                  <a:srgbClr val="36C2B5"/>
                </a:solidFill>
                <a:latin typeface="Microsoft YaHei"/>
              </a:rPr>
              <a:t>路由后的 token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4617720" y="4343400"/>
            <a:ext cx="2880359" cy="0"/>
          </a:xfrm>
          <a:prstGeom prst="line">
            <a:avLst/>
          </a:prstGeom>
          <a:ln w="25400">
            <a:solidFill>
              <a:srgbClr val="97D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800600" y="4480560"/>
            <a:ext cx="25146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>
                <a:solidFill>
                  <a:srgbClr val="97D37E"/>
                </a:solidFill>
                <a:latin typeface="Microsoft YaHei"/>
              </a:rPr>
              <a:t>部分和 / EP 归约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0" y="3246120"/>
            <a:ext cx="2011680" cy="685800"/>
          </a:xfrm>
          <a:prstGeom prst="rect">
            <a:avLst/>
          </a:prstGeom>
          <a:solidFill>
            <a:srgbClr val="27343F"/>
          </a:solidFill>
          <a:ln>
            <a:solidFill>
              <a:srgbClr val="2734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20640" y="3410712"/>
            <a:ext cx="182880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>
                <a:solidFill>
                  <a:srgbClr val="E6A153"/>
                </a:solidFill>
                <a:latin typeface="Microsoft YaHei"/>
              </a:rPr>
              <a:t>/dev/shm
共享内存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669280"/>
            <a:ext cx="104241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E6A153"/>
                </a:solidFill>
                <a:latin typeface="Microsoft YaHei"/>
              </a:rPr>
              <a:t>mapped flag + cuStreamWriteValue32 / WaitValue32 + 常驻 worker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8CB538-AEAA-91E4-2D5A-91DA3EEE7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620F5D-2938-6549-CC41-06B6799B976F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3DC16A-8FC4-778E-8DE5-C3B0201006A1}"/>
              </a:ext>
            </a:extLst>
          </p:cNvPr>
          <p:cNvSpPr txBox="1"/>
          <p:nvPr/>
        </p:nvSpPr>
        <p:spPr>
          <a:xfrm>
            <a:off x="640080" y="320040"/>
            <a:ext cx="100584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>
                <a:solidFill>
                  <a:srgbClr val="36C2B5"/>
                </a:solidFill>
                <a:latin typeface="Microsoft YaHei"/>
              </a:rPr>
              <a:t>02 / HOW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95C7F3-D33A-0CC3-15B9-AB367AB6115A}"/>
              </a:ext>
            </a:extLst>
          </p:cNvPr>
          <p:cNvSpPr txBox="1"/>
          <p:nvPr/>
        </p:nvSpPr>
        <p:spPr>
          <a:xfrm>
            <a:off x="640080" y="621792"/>
            <a:ext cx="10789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600" b="1">
                <a:solidFill>
                  <a:srgbClr val="E8EEF2"/>
                </a:solidFill>
                <a:latin typeface="Microsoft YaHei"/>
              </a:rPr>
              <a:t>系统架构：注意力留在 GPU，专家计算在 CPU</a:t>
            </a: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906B855B-3F46-D34F-32C6-9475111A8C6B}"/>
              </a:ext>
            </a:extLst>
          </p:cNvPr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8614E35-EEC6-501B-EDB5-D09868A09319}"/>
              </a:ext>
            </a:extLst>
          </p:cNvPr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CCD26A-87C7-E2F5-1E20-A0E0C68F2A0B}"/>
              </a:ext>
            </a:extLst>
          </p:cNvPr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07</a:t>
            </a:r>
          </a:p>
        </p:txBody>
      </p:sp>
      <p:cxnSp>
        <p:nvCxnSpPr>
          <p:cNvPr id="32" name="Connector 31">
            <a:extLst>
              <a:ext uri="{FF2B5EF4-FFF2-40B4-BE49-F238E27FC236}">
                <a16:creationId xmlns:a16="http://schemas.microsoft.com/office/drawing/2014/main" id="{023D61B4-E91C-A5D8-BD67-C13382FBDE4A}"/>
              </a:ext>
            </a:extLst>
          </p:cNvPr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7BE4CE6-BED0-E646-5AF2-13F41249CB02}"/>
              </a:ext>
            </a:extLst>
          </p:cNvPr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05B444-0825-9928-98D5-05D68D6EBDBA}"/>
              </a:ext>
            </a:extLst>
          </p:cNvPr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07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D3EAE429-87B7-9D4F-8E3D-8A04D0F7C3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583" y="1176606"/>
            <a:ext cx="7854914" cy="519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301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>
                <a:solidFill>
                  <a:srgbClr val="36C2B5"/>
                </a:solidFill>
                <a:latin typeface="Microsoft YaHei"/>
              </a:rPr>
              <a:t>02 /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600" b="1">
                <a:solidFill>
                  <a:srgbClr val="E8EEF2"/>
                </a:solidFill>
                <a:latin typeface="Microsoft YaHei"/>
              </a:rPr>
              <a:t>五条技术线，分别解决编排、计算、本地性和派发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4241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每条技术线都有对应的实测结果。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08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1828800"/>
            <a:ext cx="1965960" cy="3520440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04672" y="1828800"/>
            <a:ext cx="1965960" cy="9144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9264" y="2121408"/>
            <a:ext cx="16002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>
                <a:solidFill>
                  <a:srgbClr val="36C2B5"/>
                </a:solidFill>
                <a:latin typeface="Microsoft YaHei"/>
              </a:rPr>
              <a:t>T1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542032"/>
            <a:ext cx="164592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E8EEF2"/>
                </a:solidFill>
                <a:latin typeface="Microsoft YaHei"/>
              </a:rPr>
              <a:t>编排移植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3401568"/>
            <a:ext cx="1627632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9DADB9"/>
                </a:solidFill>
                <a:latin typeface="Microsoft YaHei"/>
              </a:rPr>
              <a:t>参考链路完整移植进 vLLM fork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9264" y="4462272"/>
            <a:ext cx="1618488" cy="0"/>
          </a:xfrm>
          <a:prstGeom prst="line">
            <a:avLst/>
          </a:prstGeom>
          <a:ln w="1270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69264" y="4709160"/>
            <a:ext cx="1627632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>
                <a:solidFill>
                  <a:srgbClr val="36C2B5"/>
                </a:solidFill>
                <a:latin typeface="Microsoft YaHei"/>
              </a:rPr>
              <a:t>只换引擎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828800"/>
            <a:ext cx="1965960" cy="3520440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17520" y="1828800"/>
            <a:ext cx="1965960" cy="91440"/>
          </a:xfrm>
          <a:prstGeom prst="rect">
            <a:avLst/>
          </a:prstGeom>
          <a:solidFill>
            <a:srgbClr val="97D37E"/>
          </a:solidFill>
          <a:ln>
            <a:solidFill>
              <a:srgbClr val="97D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82112" y="2121408"/>
            <a:ext cx="16002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>
                <a:solidFill>
                  <a:srgbClr val="97D37E"/>
                </a:solidFill>
                <a:latin typeface="Microsoft YaHei"/>
              </a:rPr>
              <a:t>T2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82112" y="2542032"/>
            <a:ext cx="164592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E8EEF2"/>
                </a:solidFill>
                <a:latin typeface="Microsoft YaHei"/>
              </a:rPr>
              <a:t>GPU 常驻层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401568"/>
            <a:ext cx="1627632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9DADB9"/>
                </a:solidFill>
                <a:latin typeface="Microsoft YaHei"/>
              </a:rPr>
              <a:t>每层 −0.70 ms/token（C=1）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82112" y="4462272"/>
            <a:ext cx="1618488" cy="0"/>
          </a:xfrm>
          <a:prstGeom prst="line">
            <a:avLst/>
          </a:prstGeom>
          <a:ln w="1270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182112" y="4709160"/>
            <a:ext cx="1627632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>
                <a:solidFill>
                  <a:srgbClr val="97D37E"/>
                </a:solidFill>
                <a:latin typeface="Microsoft YaHei"/>
              </a:rPr>
              <a:t>显存换延迟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30368" y="1828800"/>
            <a:ext cx="1965960" cy="3520440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230368" y="1828800"/>
            <a:ext cx="1965960" cy="91440"/>
          </a:xfrm>
          <a:prstGeom prst="rect">
            <a:avLst/>
          </a:prstGeom>
          <a:solidFill>
            <a:srgbClr val="E6A153"/>
          </a:solidFill>
          <a:ln>
            <a:solidFill>
              <a:srgbClr val="E6A1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394959" y="2121408"/>
            <a:ext cx="16002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>
                <a:solidFill>
                  <a:srgbClr val="E6A153"/>
                </a:solidFill>
                <a:latin typeface="Microsoft YaHei"/>
              </a:rPr>
              <a:t>T3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59" y="2542032"/>
            <a:ext cx="164592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E8EEF2"/>
                </a:solidFill>
                <a:latin typeface="Microsoft YaHei"/>
              </a:rPr>
              <a:t>CPU 内核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59" y="3401568"/>
            <a:ext cx="1627632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9DADB9"/>
                </a:solidFill>
                <a:latin typeface="Microsoft YaHei"/>
              </a:rPr>
              <a:t>PERMV：19 → 10 条指令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94959" y="4462272"/>
            <a:ext cx="1618489" cy="0"/>
          </a:xfrm>
          <a:prstGeom prst="line">
            <a:avLst/>
          </a:prstGeom>
          <a:ln w="1270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394959" y="4709160"/>
            <a:ext cx="1627632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>
                <a:solidFill>
                  <a:srgbClr val="E6A153"/>
                </a:solidFill>
                <a:latin typeface="Microsoft YaHei"/>
              </a:rPr>
              <a:t>Zen4 / AVX-512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43216" y="1828800"/>
            <a:ext cx="1965960" cy="3520440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443216" y="1828800"/>
            <a:ext cx="1965960" cy="91440"/>
          </a:xfrm>
          <a:prstGeom prst="rect">
            <a:avLst/>
          </a:prstGeom>
          <a:solidFill>
            <a:srgbClr val="699DD5"/>
          </a:solidFill>
          <a:ln>
            <a:solidFill>
              <a:srgbClr val="699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607808" y="2121408"/>
            <a:ext cx="16002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>
                <a:solidFill>
                  <a:srgbClr val="699DD5"/>
                </a:solidFill>
                <a:latin typeface="Microsoft YaHei"/>
              </a:rPr>
              <a:t>T4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2542032"/>
            <a:ext cx="164592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E8EEF2"/>
                </a:solidFill>
                <a:latin typeface="Microsoft YaHei"/>
              </a:rPr>
              <a:t>NUMA 与线程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07808" y="3401568"/>
            <a:ext cx="1627632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9DADB9"/>
                </a:solidFill>
                <a:latin typeface="Microsoft YaHei"/>
              </a:rPr>
              <a:t>每 rank 一个 socket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07808" y="4462272"/>
            <a:ext cx="1618488" cy="0"/>
          </a:xfrm>
          <a:prstGeom prst="line">
            <a:avLst/>
          </a:prstGeom>
          <a:ln w="1270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607808" y="4709160"/>
            <a:ext cx="1627632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>
                <a:solidFill>
                  <a:srgbClr val="699DD5"/>
                </a:solidFill>
                <a:latin typeface="Microsoft YaHei"/>
              </a:rPr>
              <a:t>4–5 核 / CCD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56064" y="1828800"/>
            <a:ext cx="1965960" cy="3520440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656064" y="1828800"/>
            <a:ext cx="1965960" cy="91440"/>
          </a:xfrm>
          <a:prstGeom prst="rect">
            <a:avLst/>
          </a:prstGeom>
          <a:solidFill>
            <a:srgbClr val="D6676C"/>
          </a:solidFill>
          <a:ln>
            <a:solidFill>
              <a:srgbClr val="D667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820656" y="2121408"/>
            <a:ext cx="16002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>
                <a:solidFill>
                  <a:srgbClr val="D6676C"/>
                </a:solidFill>
                <a:latin typeface="Microsoft YaHei"/>
              </a:rPr>
              <a:t>T5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0656" y="2542032"/>
            <a:ext cx="164592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E8EEF2"/>
                </a:solidFill>
                <a:latin typeface="Microsoft YaHei"/>
              </a:rPr>
              <a:t>Marshalling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20656" y="3401568"/>
            <a:ext cx="1627632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9DADB9"/>
                </a:solidFill>
                <a:latin typeface="Microsoft YaHei"/>
              </a:rPr>
              <a:t>V：6.53 → 1.80 ms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820656" y="4462272"/>
            <a:ext cx="1618488" cy="0"/>
          </a:xfrm>
          <a:prstGeom prst="line">
            <a:avLst/>
          </a:prstGeom>
          <a:ln w="1270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820656" y="4709160"/>
            <a:ext cx="1627632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>
                <a:solidFill>
                  <a:srgbClr val="D6676C"/>
                </a:solidFill>
                <a:latin typeface="Microsoft YaHei"/>
              </a:rPr>
              <a:t>流内异步握手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1097280"/>
            <a:ext cx="9144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800" b="1">
                <a:solidFill>
                  <a:srgbClr val="36C2B5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9966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400" b="1">
                <a:solidFill>
                  <a:srgbClr val="E8EEF2"/>
                </a:solidFill>
                <a:latin typeface="Microsoft YaHei"/>
              </a:rPr>
              <a:t>结果如何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80360"/>
            <a:ext cx="8869680" cy="28315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zh-CN" altLang="en-US" sz="1600" b="0" dirty="0">
                <a:solidFill>
                  <a:srgbClr val="9DADB9"/>
                </a:solidFill>
                <a:latin typeface="Microsoft YaHei"/>
              </a:rPr>
              <a:t>同模型</a:t>
            </a:r>
            <a:r>
              <a:rPr sz="1600" b="0" dirty="0">
                <a:solidFill>
                  <a:srgbClr val="9DADB9"/>
                </a:solidFill>
                <a:latin typeface="Microsoft YaHei"/>
              </a:rPr>
              <a:t>、</a:t>
            </a:r>
            <a:r>
              <a:rPr lang="zh-CN" altLang="en-US" sz="1600" dirty="0">
                <a:solidFill>
                  <a:srgbClr val="9DADB9"/>
                </a:solidFill>
                <a:latin typeface="Microsoft YaHei"/>
              </a:rPr>
              <a:t>同输出</a:t>
            </a:r>
            <a:r>
              <a:rPr sz="1600" b="0" dirty="0">
                <a:solidFill>
                  <a:srgbClr val="9DADB9"/>
                </a:solidFill>
                <a:latin typeface="Microsoft YaHei"/>
              </a:rPr>
              <a:t>、</a:t>
            </a:r>
            <a:r>
              <a:rPr lang="zh-CN" altLang="en-US" sz="1600" dirty="0">
                <a:solidFill>
                  <a:srgbClr val="9DADB9"/>
                </a:solidFill>
                <a:latin typeface="Microsoft YaHei"/>
              </a:rPr>
              <a:t>差别是速度</a:t>
            </a:r>
            <a:r>
              <a:rPr lang="en-US" altLang="zh-CN" sz="1600" dirty="0">
                <a:solidFill>
                  <a:srgbClr val="9DADB9"/>
                </a:solidFill>
                <a:latin typeface="Microsoft YaHei"/>
              </a:rPr>
              <a:t>/</a:t>
            </a:r>
            <a:r>
              <a:rPr lang="zh-CN" altLang="en-US" sz="1600" dirty="0">
                <a:solidFill>
                  <a:srgbClr val="9DADB9"/>
                </a:solidFill>
                <a:latin typeface="Microsoft YaHei"/>
              </a:rPr>
              <a:t>成本</a:t>
            </a:r>
            <a:r>
              <a:rPr sz="1600" b="0" dirty="0">
                <a:solidFill>
                  <a:srgbClr val="9DADB9"/>
                </a:solidFill>
                <a:latin typeface="Microsoft YaHei"/>
              </a:rPr>
              <a:t>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1248" y="3840480"/>
            <a:ext cx="2816352" cy="0"/>
          </a:xfrm>
          <a:prstGeom prst="line">
            <a:avLst/>
          </a:prstGeom>
          <a:ln w="25400">
            <a:solidFill>
              <a:srgbClr val="36C2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41248" y="5989320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vllm-xtu-moe  ·  刘锋  ·  2026-09-15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技术宣讲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>
                <a:solidFill>
                  <a:srgbClr val="36C2B5"/>
                </a:solidFill>
                <a:latin typeface="Microsoft YaHei"/>
              </a:rPr>
              <a:t>03 /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600" b="1">
                <a:solidFill>
                  <a:srgbClr val="E8EEF2"/>
                </a:solidFill>
                <a:latin typeface="Microsoft YaHei"/>
              </a:rPr>
              <a:t>并发越高，边际成本优势越明显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4241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C=2 打平；C=4 聚合吞吐反超 15%。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10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0987572"/>
              </p:ext>
            </p:extLst>
          </p:nvPr>
        </p:nvGraphicFramePr>
        <p:xfrm>
          <a:off x="868680" y="1783080"/>
          <a:ext cx="658368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874519"/>
            <a:ext cx="3429000" cy="3749039"/>
          </a:xfrm>
          <a:prstGeom prst="rect">
            <a:avLst/>
          </a:prstGeom>
          <a:solidFill>
            <a:srgbClr val="182B30"/>
          </a:solidFill>
          <a:ln>
            <a:solidFill>
              <a:srgbClr val="182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92440" y="2148840"/>
            <a:ext cx="2743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>
                <a:solidFill>
                  <a:srgbClr val="36C2B5"/>
                </a:solidFill>
                <a:latin typeface="Microsoft YaHei"/>
              </a:rPr>
              <a:t>关键读数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697480"/>
            <a:ext cx="2743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300" b="1">
                <a:solidFill>
                  <a:srgbClr val="36C2B5"/>
                </a:solidFill>
                <a:latin typeface="Microsoft YaHei"/>
              </a:rPr>
              <a:t>35.5 tok/s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9872" y="3072384"/>
            <a:ext cx="2743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>
                <a:solidFill>
                  <a:srgbClr val="9DADB9"/>
                </a:solidFill>
                <a:latin typeface="Microsoft YaHei"/>
              </a:rPr>
              <a:t>单流解码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3474720"/>
            <a:ext cx="2743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300" b="1">
                <a:solidFill>
                  <a:srgbClr val="699DD5"/>
                </a:solidFill>
                <a:latin typeface="Microsoft YaHei"/>
              </a:rPr>
              <a:t>59.89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9872" y="3849624"/>
            <a:ext cx="2743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>
                <a:solidFill>
                  <a:srgbClr val="9DADB9"/>
                </a:solidFill>
                <a:latin typeface="Microsoft YaHei"/>
              </a:rPr>
              <a:t>C=2 聚合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4251960"/>
            <a:ext cx="2743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300" b="1">
                <a:solidFill>
                  <a:srgbClr val="97D37E"/>
                </a:solidFill>
                <a:latin typeface="Microsoft YaHei"/>
              </a:rPr>
              <a:t>100.16 t/s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4626864"/>
            <a:ext cx="2743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>
                <a:solidFill>
                  <a:srgbClr val="9DADB9"/>
                </a:solidFill>
                <a:latin typeface="Microsoft YaHei"/>
              </a:rPr>
              <a:t>C=4 聚合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5148072"/>
            <a:ext cx="27432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E8EEF2"/>
                </a:solidFill>
                <a:latin typeface="Microsoft YaHei"/>
              </a:rPr>
              <a:t>C=4：1.15× 同机专有引擎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>
                <a:solidFill>
                  <a:srgbClr val="36C2B5"/>
                </a:solidFill>
                <a:latin typeface="Microsoft YaHei"/>
              </a:rPr>
              <a:t>03 /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600" b="1">
                <a:solidFill>
                  <a:srgbClr val="E8EEF2"/>
                </a:solidFill>
                <a:latin typeface="Microsoft YaHei"/>
              </a:rPr>
              <a:t>先做分解，再做优化：37.33 ms 的钱花在哪里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4241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三段严格相加；CPU MoE 与派发是主要成本。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11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68680" y="1874519"/>
          <a:ext cx="662940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874519"/>
            <a:ext cx="3429000" cy="3520440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01583" y="2148840"/>
            <a:ext cx="283464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>
                <a:solidFill>
                  <a:srgbClr val="E6A153"/>
                </a:solidFill>
                <a:latin typeface="Microsoft YaHei"/>
              </a:rPr>
              <a:t>异步握手的收益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01583" y="2724912"/>
            <a:ext cx="2743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1">
                <a:solidFill>
                  <a:srgbClr val="E8EEF2"/>
                </a:solidFill>
                <a:latin typeface="Microsoft YaHei"/>
              </a:rPr>
              <a:t>V：6.53 → 1.80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1583" y="3383280"/>
            <a:ext cx="2743200" cy="7132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>
                <a:solidFill>
                  <a:srgbClr val="9DADB9"/>
                </a:solidFill>
                <a:latin typeface="Microsoft YaHei"/>
              </a:rPr>
              <a:t>host-func 每层排空整条流；
mapped flag 让 GPU / CPU 并行推进。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1583" y="4663440"/>
            <a:ext cx="2743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97D37E"/>
                </a:solidFill>
                <a:latin typeface="Microsoft YaHei"/>
              </a:rPr>
              <a:t>C=4 聚合：71.8 → 100.2 t/s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>
                <a:solidFill>
                  <a:srgbClr val="36C2B5"/>
                </a:solidFill>
                <a:latin typeface="Microsoft YaHei"/>
              </a:rPr>
              <a:t>03 /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600" b="1">
                <a:solidFill>
                  <a:srgbClr val="E8EEF2"/>
                </a:solidFill>
                <a:latin typeface="Microsoft YaHei"/>
              </a:rPr>
              <a:t>性能跃迁来自系统级转折，而不是单条指令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4241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常驻层 + 异步握手，带来本轮最大的收益。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12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8804844"/>
              </p:ext>
            </p:extLst>
          </p:nvPr>
        </p:nvGraphicFramePr>
        <p:xfrm>
          <a:off x="868680" y="1828800"/>
          <a:ext cx="667512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909560" y="1828800"/>
            <a:ext cx="3337560" cy="3657600"/>
          </a:xfrm>
          <a:prstGeom prst="rect">
            <a:avLst/>
          </a:prstGeom>
          <a:solidFill>
            <a:srgbClr val="182B30"/>
          </a:solidFill>
          <a:ln>
            <a:solidFill>
              <a:srgbClr val="182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83879" y="2121408"/>
            <a:ext cx="2743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>
                <a:solidFill>
                  <a:srgbClr val="36C2B5"/>
                </a:solidFill>
                <a:latin typeface="Microsoft YaHei"/>
              </a:rPr>
              <a:t>累计变化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743200"/>
            <a:ext cx="27432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1">
                <a:solidFill>
                  <a:srgbClr val="36C2B5"/>
                </a:solidFill>
                <a:latin typeface="Microsoft YaHei"/>
              </a:rPr>
              <a:t>C=1 TPOT  −25%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3337560"/>
            <a:ext cx="27432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1">
                <a:solidFill>
                  <a:srgbClr val="699DD5"/>
                </a:solidFill>
                <a:latin typeface="Microsoft YaHei"/>
              </a:rPr>
              <a:t>C=2 聚合  +75%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3931920"/>
            <a:ext cx="27432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1">
                <a:solidFill>
                  <a:srgbClr val="97D37E"/>
                </a:solidFill>
                <a:latin typeface="Microsoft YaHei"/>
              </a:rPr>
              <a:t>C=4 聚合 +195%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4754880"/>
            <a:ext cx="27432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E8EEF2"/>
                </a:solidFill>
                <a:latin typeface="Microsoft YaHei"/>
              </a:rPr>
              <a:t>局部指令优化只换来约 10% compute 改善；真正跃迁来自放置与编排。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>
                <a:solidFill>
                  <a:srgbClr val="36C2B5"/>
                </a:solidFill>
                <a:latin typeface="Microsoft YaHei"/>
              </a:rPr>
              <a:t>03 /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600" b="1">
                <a:solidFill>
                  <a:srgbClr val="E8EEF2"/>
                </a:solidFill>
                <a:latin typeface="Microsoft YaHei"/>
              </a:rPr>
              <a:t>正确性与适用边界，和性能一起验收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4241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把可以承诺的范围写清楚，方便复现和复用。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783080"/>
            <a:ext cx="5120640" cy="3977639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2057400"/>
            <a:ext cx="43891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>
                <a:solidFill>
                  <a:srgbClr val="97D37E"/>
                </a:solidFill>
                <a:latin typeface="Microsoft YaHei"/>
              </a:rPr>
              <a:t>正确性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2697480"/>
            <a:ext cx="201168" cy="201168"/>
          </a:xfrm>
          <a:prstGeom prst="rect">
            <a:avLst/>
          </a:prstGeom>
          <a:solidFill>
            <a:srgbClr val="97D37E"/>
          </a:solidFill>
          <a:ln>
            <a:solidFill>
              <a:srgbClr val="97D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35608" y="2688336"/>
            <a:ext cx="12344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>
                <a:solidFill>
                  <a:srgbClr val="E8EEF2"/>
                </a:solidFill>
                <a:latin typeface="Microsoft YaHei"/>
              </a:rPr>
              <a:t>u32 dump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688336"/>
            <a:ext cx="26974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host-func / async 逐位全等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3355848"/>
            <a:ext cx="201168" cy="201168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35608" y="3346704"/>
            <a:ext cx="12344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>
                <a:solidFill>
                  <a:srgbClr val="E8EEF2"/>
                </a:solidFill>
                <a:latin typeface="Microsoft YaHei"/>
              </a:rPr>
              <a:t>Greedy 文本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346704"/>
            <a:ext cx="26974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5 / 5 prompt 完全一致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014216"/>
            <a:ext cx="201168" cy="201168"/>
          </a:xfrm>
          <a:prstGeom prst="rect">
            <a:avLst/>
          </a:prstGeom>
          <a:solidFill>
            <a:srgbClr val="699DD5"/>
          </a:solidFill>
          <a:ln>
            <a:solidFill>
              <a:srgbClr val="699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435608" y="4005072"/>
            <a:ext cx="12344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>
                <a:solidFill>
                  <a:srgbClr val="E8EEF2"/>
                </a:solidFill>
                <a:latin typeface="Microsoft YaHei"/>
              </a:rPr>
              <a:t>CUDA 错误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005072"/>
            <a:ext cx="26974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启动与运行期：0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4672584"/>
            <a:ext cx="201168" cy="201168"/>
          </a:xfrm>
          <a:prstGeom prst="rect">
            <a:avLst/>
          </a:prstGeom>
          <a:solidFill>
            <a:srgbClr val="E6A153"/>
          </a:solidFill>
          <a:ln>
            <a:solidFill>
              <a:srgbClr val="E6A1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435608" y="4663440"/>
            <a:ext cx="12344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>
                <a:solidFill>
                  <a:srgbClr val="E8EEF2"/>
                </a:solidFill>
                <a:latin typeface="Microsoft YaHei"/>
              </a:rPr>
              <a:t>数值门禁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663440"/>
            <a:ext cx="26974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OK=7 BAD=1，与基线相同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120640" cy="3977639"/>
          </a:xfrm>
          <a:prstGeom prst="rect">
            <a:avLst/>
          </a:prstGeom>
          <a:solidFill>
            <a:srgbClr val="182B30"/>
          </a:solidFill>
          <a:ln>
            <a:solidFill>
              <a:srgbClr val="182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60" y="2057400"/>
            <a:ext cx="43891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>
                <a:solidFill>
                  <a:srgbClr val="E6A153"/>
                </a:solidFill>
                <a:latin typeface="Microsoft YaHei"/>
              </a:rPr>
              <a:t>适用范围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724912"/>
            <a:ext cx="443484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>
                <a:solidFill>
                  <a:srgbClr val="E8EEF2"/>
                </a:solidFill>
                <a:latin typeface="Microsoft YaHei"/>
              </a:rPr>
              <a:t>—  C=1–4 的单人 / 小组交互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319272"/>
            <a:ext cx="443484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>
                <a:solidFill>
                  <a:srgbClr val="E8EEF2"/>
                </a:solidFill>
                <a:latin typeface="Microsoft YaHei"/>
              </a:rPr>
              <a:t>—  私有化、离网、可审计部署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913632"/>
            <a:ext cx="443484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 dirty="0">
                <a:solidFill>
                  <a:srgbClr val="9DADB9"/>
                </a:solidFill>
                <a:latin typeface="Microsoft YaHei"/>
              </a:rPr>
              <a:t>—  </a:t>
            </a:r>
            <a:r>
              <a:rPr sz="1400" b="0" dirty="0" err="1">
                <a:solidFill>
                  <a:srgbClr val="9DADB9"/>
                </a:solidFill>
                <a:latin typeface="Microsoft YaHei"/>
              </a:rPr>
              <a:t>不追求高并发服务</a:t>
            </a:r>
            <a:endParaRPr sz="1400" b="0" dirty="0">
              <a:solidFill>
                <a:srgbClr val="9DADB9"/>
              </a:solidFill>
              <a:latin typeface="Microsoft YaHe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537960" y="4507992"/>
            <a:ext cx="443484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 dirty="0">
                <a:solidFill>
                  <a:srgbClr val="9DADB9"/>
                </a:solidFill>
                <a:latin typeface="Microsoft YaHei"/>
              </a:rPr>
              <a:t>—  </a:t>
            </a:r>
            <a:r>
              <a:rPr lang="zh-CN" altLang="en-US" sz="1400" b="0" dirty="0">
                <a:solidFill>
                  <a:srgbClr val="9DADB9"/>
                </a:solidFill>
                <a:latin typeface="Microsoft YaHei"/>
              </a:rPr>
              <a:t>不承诺与闭源引擎逐字节输出契约一致</a:t>
            </a:r>
            <a:endParaRPr sz="1400" b="0" dirty="0">
              <a:solidFill>
                <a:srgbClr val="9DADB9"/>
              </a:solidFill>
              <a:latin typeface="Microsoft YaHei"/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1097280"/>
            <a:ext cx="9144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800" b="1">
                <a:solidFill>
                  <a:srgbClr val="36C2B5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9966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400" b="1">
                <a:solidFill>
                  <a:srgbClr val="E8EEF2"/>
                </a:solidFill>
                <a:latin typeface="Microsoft YaHei"/>
              </a:rPr>
              <a:t>经验与下一步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80360"/>
            <a:ext cx="886968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0">
                <a:solidFill>
                  <a:srgbClr val="9DADB9"/>
                </a:solidFill>
                <a:latin typeface="Microsoft YaHei"/>
              </a:rPr>
              <a:t>AI 负责重实验，人负责方向、判据和取舍。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1248" y="3840480"/>
            <a:ext cx="2816352" cy="0"/>
          </a:xfrm>
          <a:prstGeom prst="line">
            <a:avLst/>
          </a:prstGeom>
          <a:ln w="25400">
            <a:solidFill>
              <a:srgbClr val="36C2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41248" y="5989320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vllm-xtu-moe  ·  刘锋  ·  2026-09-15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技术宣讲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>
                <a:solidFill>
                  <a:srgbClr val="36C2B5"/>
                </a:solidFill>
                <a:latin typeface="Microsoft YaHei"/>
              </a:rPr>
              <a:t>04 /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600" b="1">
                <a:solidFill>
                  <a:srgbClr val="E8EEF2"/>
                </a:solidFill>
                <a:latin typeface="Microsoft YaHei"/>
              </a:rPr>
              <a:t>AI 的优势是实验密度，人类的优势是换搜索空间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4241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四个决定性输入，直接改变了优化方向。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1874519"/>
            <a:ext cx="3246120" cy="3520440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24712" y="2148840"/>
            <a:ext cx="2651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36C2B5"/>
                </a:solidFill>
                <a:latin typeface="Microsoft YaHei"/>
              </a:rPr>
              <a:t>AI 负责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24712" y="2651760"/>
            <a:ext cx="2670048" cy="0"/>
          </a:xfrm>
          <a:prstGeom prst="line">
            <a:avLst/>
          </a:prstGeom>
          <a:ln w="19050">
            <a:solidFill>
              <a:srgbClr val="36C2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124712" y="2971800"/>
            <a:ext cx="2651760" cy="1463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0">
                <a:solidFill>
                  <a:srgbClr val="E8EEF2"/>
                </a:solidFill>
                <a:latin typeface="Microsoft YaHei"/>
              </a:rPr>
              <a:t>分钟级微基准
批量实验与记录
局部实现与回归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874519"/>
            <a:ext cx="3246120" cy="3520440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8032" y="2148840"/>
            <a:ext cx="2651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E6A153"/>
                </a:solidFill>
                <a:latin typeface="Microsoft YaHei"/>
              </a:rPr>
              <a:t>人类给出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28032" y="2651760"/>
            <a:ext cx="2670047" cy="0"/>
          </a:xfrm>
          <a:prstGeom prst="line">
            <a:avLst/>
          </a:prstGeom>
          <a:ln w="19050">
            <a:solidFill>
              <a:srgbClr val="E6A1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828032" y="2971800"/>
            <a:ext cx="2651760" cy="1463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0">
                <a:solidFill>
                  <a:srgbClr val="E8EEF2"/>
                </a:solidFill>
                <a:latin typeface="Microsoft YaHei"/>
              </a:rPr>
              <a:t>何时结案
参考数字与量级
架构放置与硬约束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19" y="1874519"/>
            <a:ext cx="3246120" cy="3520440"/>
          </a:xfrm>
          <a:prstGeom prst="rect">
            <a:avLst/>
          </a:prstGeom>
          <a:solidFill>
            <a:srgbClr val="182B30"/>
          </a:solidFill>
          <a:ln>
            <a:solidFill>
              <a:srgbClr val="182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31351" y="2148840"/>
            <a:ext cx="2651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97D37E"/>
                </a:solidFill>
                <a:latin typeface="Microsoft YaHei"/>
              </a:rPr>
              <a:t>破局结果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531351" y="2651760"/>
            <a:ext cx="2670049" cy="0"/>
          </a:xfrm>
          <a:prstGeom prst="line">
            <a:avLst/>
          </a:prstGeom>
          <a:ln w="19050">
            <a:solidFill>
              <a:srgbClr val="97D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531351" y="2971800"/>
            <a:ext cx="2651760" cy="1463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0">
                <a:solidFill>
                  <a:srgbClr val="E8EEF2"/>
                </a:solidFill>
                <a:latin typeface="Microsoft YaHei"/>
              </a:rPr>
              <a:t>停止 30 轮局部死循环
发现投机模型应全放 GPU
把接受率目标校准到生产量级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5806440"/>
            <a:ext cx="1024128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400" b="1">
                <a:solidFill>
                  <a:srgbClr val="E8EEF2"/>
                </a:solidFill>
                <a:latin typeface="Microsoft YaHei"/>
              </a:rPr>
              <a:t>结论：方向、判据、地面真值和取舍，不能从局部性能数据里自动推出来。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>
                <a:solidFill>
                  <a:srgbClr val="36C2B5"/>
                </a:solidFill>
                <a:latin typeface="Microsoft YaHei"/>
              </a:rPr>
              <a:t>04 /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600" b="1">
                <a:solidFill>
                  <a:srgbClr val="E8EEF2"/>
                </a:solidFill>
                <a:latin typeface="Microsoft YaHei"/>
              </a:rPr>
              <a:t>九条铁律，把试错沉淀成可复用约束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4241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最有价值的不是某个旋钮，而是知道哪些旋钮不该再拧。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74519"/>
            <a:ext cx="43891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36C2B5"/>
                </a:solidFill>
                <a:latin typeface="Microsoft YaHei"/>
              </a:rPr>
              <a:t>R1–R5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395728"/>
            <a:ext cx="4617720" cy="384048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496312"/>
            <a:ext cx="42519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E8EEF2"/>
                </a:solidFill>
                <a:latin typeface="Microsoft YaHei"/>
              </a:rPr>
              <a:t>每 CCD 只用 4–5 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962656"/>
            <a:ext cx="4617720" cy="384048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063240"/>
            <a:ext cx="42519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E8EEF2"/>
                </a:solidFill>
                <a:latin typeface="Microsoft YaHei"/>
              </a:rPr>
              <a:t>每 rank 只读本地 socket 内存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529584"/>
            <a:ext cx="4617720" cy="384048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630168"/>
            <a:ext cx="42519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E8EEF2"/>
                </a:solidFill>
                <a:latin typeface="Microsoft YaHei"/>
              </a:rPr>
              <a:t>先量分解，再谈优化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096512"/>
            <a:ext cx="4617720" cy="384048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197096"/>
            <a:ext cx="42519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E8EEF2"/>
                </a:solidFill>
                <a:latin typeface="Microsoft YaHei"/>
              </a:rPr>
              <a:t>先算 roofline，再谈目标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663440"/>
            <a:ext cx="4617720" cy="384048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4764024"/>
            <a:ext cx="42519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E8EEF2"/>
                </a:solidFill>
                <a:latin typeface="Microsoft YaHei"/>
              </a:rPr>
              <a:t>只信 numa_maps 实测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874519"/>
            <a:ext cx="43891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E6A153"/>
                </a:solidFill>
                <a:latin typeface="Microsoft YaHei"/>
              </a:rPr>
              <a:t>R6–R9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2395728"/>
            <a:ext cx="4617720" cy="384048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73952" y="2496312"/>
            <a:ext cx="42519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E8EEF2"/>
                </a:solidFill>
                <a:latin typeface="Microsoft YaHei"/>
              </a:rPr>
              <a:t>同一协议、同一负载、同一口径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962656"/>
            <a:ext cx="4617720" cy="384048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73952" y="3063240"/>
            <a:ext cx="42519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E8EEF2"/>
                </a:solidFill>
                <a:latin typeface="Microsoft YaHei"/>
              </a:rPr>
              <a:t>草稿模型永远全放 GPU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3529584"/>
            <a:ext cx="4617720" cy="384048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73952" y="3630168"/>
            <a:ext cx="42519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E8EEF2"/>
                </a:solidFill>
                <a:latin typeface="Microsoft YaHei"/>
              </a:rPr>
              <a:t>mapped flag 必须构造期分配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096512"/>
            <a:ext cx="4617720" cy="384048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4197096"/>
            <a:ext cx="42519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E8EEF2"/>
                </a:solidFill>
                <a:latin typeface="Microsoft YaHei"/>
              </a:rPr>
              <a:t>负结果写入台账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4663440"/>
            <a:ext cx="4617720" cy="384048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73952" y="4764024"/>
            <a:ext cx="42519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E8EEF2"/>
                </a:solidFill>
                <a:latin typeface="Microsoft YaHei"/>
              </a:rPr>
              <a:t>优先复用，再自研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>
                <a:solidFill>
                  <a:srgbClr val="36C2B5"/>
                </a:solidFill>
                <a:latin typeface="Microsoft YaHei"/>
              </a:rPr>
              <a:t>04 /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600" b="1">
                <a:solidFill>
                  <a:srgbClr val="E8EEF2"/>
                </a:solidFill>
                <a:latin typeface="Microsoft YaHei"/>
              </a:rPr>
              <a:t>路线图：从“能跑”走向“可复用”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4241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>
                <a:solidFill>
                  <a:srgbClr val="9DADB9"/>
                </a:solidFill>
                <a:latin typeface="Microsoft YaHei"/>
              </a:rPr>
              <a:t>后续重点是固定成本、显存再平衡，以及更容易跟随 vLLM 主线的接口形态。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1874519"/>
            <a:ext cx="3246120" cy="2148840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27432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>
                <a:solidFill>
                  <a:srgbClr val="36C2B5"/>
                </a:solidFill>
                <a:latin typeface="Microsoft YaHei"/>
              </a:rPr>
              <a:t>近期 1–2 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578608"/>
            <a:ext cx="2743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900" b="1">
                <a:solidFill>
                  <a:srgbClr val="E8EEF2"/>
                </a:solidFill>
                <a:latin typeface="Microsoft YaHei"/>
              </a:rPr>
              <a:t>P0 / P1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154680"/>
            <a:ext cx="274320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dirty="0">
                <a:solidFill>
                  <a:srgbClr val="9DADB9"/>
                </a:solidFill>
                <a:latin typeface="Microsoft YaHei"/>
              </a:rPr>
              <a:t>CPU </a:t>
            </a:r>
            <a:r>
              <a:rPr sz="1200" b="0" dirty="0" err="1">
                <a:solidFill>
                  <a:srgbClr val="9DADB9"/>
                </a:solidFill>
                <a:latin typeface="Microsoft YaHei"/>
              </a:rPr>
              <a:t>每层</a:t>
            </a:r>
            <a:r>
              <a:rPr sz="1200" b="0" dirty="0">
                <a:solidFill>
                  <a:srgbClr val="9DADB9"/>
                </a:solidFill>
                <a:latin typeface="Microsoft YaHei"/>
              </a:rPr>
              <a:t> 0.19 </a:t>
            </a:r>
            <a:r>
              <a:rPr sz="1200" b="0" dirty="0" err="1">
                <a:solidFill>
                  <a:srgbClr val="9DADB9"/>
                </a:solidFill>
                <a:latin typeface="Microsoft YaHei"/>
              </a:rPr>
              <a:t>ms；常驻层</a:t>
            </a:r>
            <a:r>
              <a:rPr sz="1200" b="0" dirty="0">
                <a:solidFill>
                  <a:srgbClr val="9DADB9"/>
                </a:solidFill>
                <a:latin typeface="Microsoft YaHei"/>
              </a:rPr>
              <a:t> 14+；C=1 </a:t>
            </a:r>
            <a:r>
              <a:rPr sz="1200" b="0" dirty="0" err="1">
                <a:solidFill>
                  <a:srgbClr val="9DADB9"/>
                </a:solidFill>
                <a:latin typeface="Microsoft YaHei"/>
              </a:rPr>
              <a:t>追平专有引擎</a:t>
            </a:r>
            <a:endParaRPr sz="1200" b="0" dirty="0">
              <a:solidFill>
                <a:srgbClr val="9DADB9"/>
              </a:solidFill>
              <a:latin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0" y="1874519"/>
            <a:ext cx="3246120" cy="2148840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00600" y="2121408"/>
            <a:ext cx="27432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>
                <a:solidFill>
                  <a:srgbClr val="97D37E"/>
                </a:solidFill>
                <a:latin typeface="Microsoft YaHei"/>
              </a:rPr>
              <a:t>中期 3–6 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578608"/>
            <a:ext cx="2743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900" b="1">
                <a:solidFill>
                  <a:srgbClr val="E8EEF2"/>
                </a:solidFill>
                <a:latin typeface="Microsoft YaHei"/>
              </a:rPr>
              <a:t>全场景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154680"/>
            <a:ext cx="2743200" cy="77559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dirty="0" err="1">
                <a:solidFill>
                  <a:srgbClr val="9DADB9"/>
                </a:solidFill>
                <a:latin typeface="Microsoft YaHei"/>
              </a:rPr>
              <a:t>恢复</a:t>
            </a:r>
            <a:r>
              <a:rPr sz="1200" b="0" dirty="0">
                <a:solidFill>
                  <a:srgbClr val="9DADB9"/>
                </a:solidFill>
                <a:latin typeface="Microsoft YaHei"/>
              </a:rPr>
              <a:t> GPU </a:t>
            </a:r>
            <a:r>
              <a:rPr sz="1200" b="0" dirty="0" err="1">
                <a:solidFill>
                  <a:srgbClr val="9DADB9"/>
                </a:solidFill>
                <a:latin typeface="Microsoft YaHei"/>
              </a:rPr>
              <a:t>预填充；投机自适应；host</a:t>
            </a:r>
            <a:r>
              <a:rPr sz="1200" b="0" dirty="0">
                <a:solidFill>
                  <a:srgbClr val="9DADB9"/>
                </a:solidFill>
                <a:latin typeface="Microsoft YaHei"/>
              </a:rPr>
              <a:t> </a:t>
            </a:r>
            <a:r>
              <a:rPr sz="1200" b="0" dirty="0" err="1">
                <a:solidFill>
                  <a:srgbClr val="9DADB9"/>
                </a:solidFill>
                <a:latin typeface="Microsoft YaHei"/>
              </a:rPr>
              <a:t>内存去重</a:t>
            </a:r>
            <a:endParaRPr lang="en-US" sz="1200" b="0" dirty="0">
              <a:solidFill>
                <a:srgbClr val="9DADB9"/>
              </a:solidFill>
              <a:latin typeface="Microsoft YaHei"/>
            </a:endParaRPr>
          </a:p>
          <a:p>
            <a:pPr algn="l"/>
            <a:endParaRPr lang="en-US" sz="1200" dirty="0">
              <a:solidFill>
                <a:srgbClr val="9DADB9"/>
              </a:solidFill>
              <a:latin typeface="Microsoft YaHei"/>
            </a:endParaRPr>
          </a:p>
          <a:p>
            <a:pPr algn="l"/>
            <a:r>
              <a:rPr lang="en-US" sz="1200" dirty="0" err="1">
                <a:solidFill>
                  <a:srgbClr val="9DADB9"/>
                </a:solidFill>
                <a:latin typeface="Microsoft YaHei"/>
              </a:rPr>
              <a:t>在同级别更新硬件平台上实现双倍性能</a:t>
            </a:r>
            <a:endParaRPr sz="1200" b="0" dirty="0">
              <a:solidFill>
                <a:srgbClr val="9DADB9"/>
              </a:solidFill>
              <a:latin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275319" y="1874519"/>
            <a:ext cx="3246120" cy="2148840"/>
          </a:xfrm>
          <a:prstGeom prst="rect">
            <a:avLst/>
          </a:prstGeom>
          <a:solidFill>
            <a:srgbClr val="152231"/>
          </a:solidFill>
          <a:ln>
            <a:solidFill>
              <a:srgbClr val="15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03919" y="2121408"/>
            <a:ext cx="27432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>
                <a:solidFill>
                  <a:srgbClr val="E6A153"/>
                </a:solidFill>
                <a:latin typeface="Microsoft YaHei"/>
              </a:rPr>
              <a:t>长期 6–12 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19" y="2578608"/>
            <a:ext cx="2743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900" b="1">
                <a:solidFill>
                  <a:srgbClr val="E8EEF2"/>
                </a:solidFill>
                <a:latin typeface="Microsoft YaHei"/>
              </a:rPr>
              <a:t>解耦式推理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154680"/>
            <a:ext cx="274320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9DADB9"/>
                </a:solidFill>
                <a:latin typeface="Microsoft YaHei"/>
              </a:rPr>
              <a:t>CPU 专家池 + GPU 注意力池；跨机扩展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4617720"/>
            <a:ext cx="10515600" cy="914400"/>
          </a:xfrm>
          <a:prstGeom prst="rect">
            <a:avLst/>
          </a:prstGeom>
          <a:solidFill>
            <a:srgbClr val="182B30"/>
          </a:solidFill>
          <a:ln>
            <a:solidFill>
              <a:srgbClr val="182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43000" y="4864608"/>
            <a:ext cx="99669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500" b="1">
                <a:solidFill>
                  <a:srgbClr val="E8EEF2"/>
                </a:solidFill>
                <a:latin typeface="Microsoft YaHei"/>
              </a:rPr>
              <a:t>长期愿景：把“可观测、可改造、可审计”的异构推理能力，沉淀为可复用的 vLLM 外部 MoE backend。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数据：本机实测；协议见报告 §6.2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6C2B5"/>
          </a:solidFill>
          <a:ln>
            <a:solidFill>
              <a:srgbClr val="36C2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1097280"/>
            <a:ext cx="1024128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000" b="1">
                <a:solidFill>
                  <a:srgbClr val="E8EEF2"/>
                </a:solidFill>
                <a:latin typeface="Microsoft YaHei"/>
              </a:rPr>
              <a:t>我们证明了一件事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874519"/>
            <a:ext cx="10241280" cy="9601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800" b="1" dirty="0" err="1">
                <a:solidFill>
                  <a:srgbClr val="36C2B5"/>
                </a:solidFill>
                <a:latin typeface="Microsoft YaHei"/>
              </a:rPr>
              <a:t>买不起</a:t>
            </a:r>
            <a:r>
              <a:rPr sz="2800" b="1" dirty="0">
                <a:solidFill>
                  <a:srgbClr val="36C2B5"/>
                </a:solidFill>
                <a:latin typeface="Microsoft YaHei"/>
              </a:rPr>
              <a:t> GPU </a:t>
            </a:r>
            <a:r>
              <a:rPr sz="2800" b="1" dirty="0" err="1">
                <a:solidFill>
                  <a:srgbClr val="36C2B5"/>
                </a:solidFill>
                <a:latin typeface="Microsoft YaHei"/>
              </a:rPr>
              <a:t>集群的团队，也能在自己的服务器上运行满血最新超大模型</a:t>
            </a:r>
            <a:r>
              <a:rPr sz="2800" b="1" dirty="0">
                <a:solidFill>
                  <a:srgbClr val="36C2B5"/>
                </a:solidFill>
                <a:latin typeface="Microsoft YaHei"/>
              </a:rPr>
              <a:t>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3246120"/>
            <a:ext cx="3657600" cy="0"/>
          </a:xfrm>
          <a:prstGeom prst="line">
            <a:avLst/>
          </a:prstGeom>
          <a:ln w="25400">
            <a:solidFill>
              <a:srgbClr val="36C2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96112" y="3541033"/>
            <a:ext cx="10259568" cy="114492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b="1" dirty="0" err="1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性能</a:t>
            </a:r>
            <a:r>
              <a:rPr lang="zh-CN" altLang="en-US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满足科研、个人</a:t>
            </a:r>
            <a:r>
              <a:rPr lang="en-US" altLang="zh-CN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小组生产需求</a:t>
            </a:r>
            <a:endParaRPr lang="en-US" altLang="zh-CN" b="1" dirty="0">
              <a:solidFill>
                <a:srgbClr val="E8EEF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/>
            <a:r>
              <a:rPr lang="zh-CN" altLang="en-US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在</a:t>
            </a:r>
            <a:r>
              <a:rPr lang="en-US" altLang="zh-CN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Harness</a:t>
            </a:r>
            <a:r>
              <a:rPr lang="zh-CN" altLang="en-US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Agent</a:t>
            </a:r>
            <a:r>
              <a:rPr lang="zh-CN" altLang="en-US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Loop</a:t>
            </a:r>
            <a:r>
              <a:rPr lang="zh-CN" altLang="en-US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支持下，长程缓冲命中率</a:t>
            </a:r>
            <a:r>
              <a:rPr lang="en-US" altLang="zh-CN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&gt;99%</a:t>
            </a:r>
            <a:r>
              <a:rPr lang="zh-CN" altLang="en-US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，本项目就是自我支持的开发
</a:t>
            </a:r>
            <a:r>
              <a:rPr b="1" dirty="0" err="1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过程可观测，代码可改造，部署可自主控制</a:t>
            </a:r>
            <a:endParaRPr lang="en-US" b="1" dirty="0">
              <a:solidFill>
                <a:srgbClr val="E8EEF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/>
            <a:r>
              <a:rPr lang="zh-CN" altLang="en-US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使用低成本</a:t>
            </a:r>
            <a:r>
              <a:rPr lang="en-US" altLang="zh-CN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DRAM</a:t>
            </a:r>
            <a:r>
              <a:rPr lang="zh-CN" altLang="en-US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容纳更大的</a:t>
            </a:r>
            <a:r>
              <a:rPr lang="en-US" altLang="zh-CN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deepseek-v4.1-flash</a:t>
            </a:r>
            <a:r>
              <a:rPr lang="zh-CN" altLang="en-US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模型（</a:t>
            </a:r>
            <a:r>
              <a:rPr lang="en-US" altLang="zh-CN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500B</a:t>
            </a:r>
            <a:r>
              <a:rPr lang="zh-CN" altLang="en-US" b="1" dirty="0">
                <a:solidFill>
                  <a:srgbClr val="E8EEF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参数）乃至万亿参数模型</a:t>
            </a:r>
            <a:endParaRPr b="1" dirty="0">
              <a:solidFill>
                <a:srgbClr val="E8EEF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5257800"/>
            <a:ext cx="8686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>
                <a:solidFill>
                  <a:srgbClr val="97D37E"/>
                </a:solidFill>
                <a:latin typeface="Microsoft YaHei"/>
              </a:rPr>
              <a:t>谢谢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580644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100" b="0">
                <a:solidFill>
                  <a:srgbClr val="9DADB9"/>
                </a:solidFill>
                <a:latin typeface="Microsoft YaHei"/>
              </a:rPr>
              <a:t>刘锋  ·  2026-09-15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4360" y="6473952"/>
            <a:ext cx="11000232" cy="0"/>
          </a:xfrm>
          <a:prstGeom prst="line">
            <a:avLst/>
          </a:prstGeom>
          <a:ln w="8890">
            <a:solidFill>
              <a:srgbClr val="364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1792" y="6537960"/>
            <a:ext cx="7315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800" b="0">
                <a:solidFill>
                  <a:srgbClr val="9DADB9"/>
                </a:solidFill>
                <a:latin typeface="Microsoft YaHei"/>
              </a:rPr>
              <a:t>vllm-xtu-moe · 技术宣讲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37960"/>
            <a:ext cx="9144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800" b="1">
                <a:solidFill>
                  <a:srgbClr val="9DADB9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1095</Words>
  <Application>Microsoft Macintosh PowerPoint</Application>
  <PresentationFormat>宽屏</PresentationFormat>
  <Paragraphs>263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3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lf</cp:lastModifiedBy>
  <cp:revision>8</cp:revision>
  <dcterms:created xsi:type="dcterms:W3CDTF">2013-01-27T09:14:16Z</dcterms:created>
  <dcterms:modified xsi:type="dcterms:W3CDTF">2026-09-14T05:46:55Z</dcterms:modified>
  <cp:category/>
</cp:coreProperties>
</file>