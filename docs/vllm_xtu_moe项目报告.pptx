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lk_moe</c:v>
                </c:pt>
              </c:strCache>
            </c:strRef>
          </c:tx>
          <c:spPr>
            <a:solidFill>
              <a:srgbClr val="D6676C"/>
            </a:solidFill>
            <a:ln>
              <a:solidFill>
                <a:srgbClr val="D6676C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8EEF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C=1</c:v>
                </c:pt>
                <c:pt idx="1">
                  <c:v>C=2</c:v>
                </c:pt>
                <c:pt idx="2">
                  <c:v>C=4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41.04</c:v>
                </c:pt>
                <c:pt idx="1">
                  <c:v>59.73</c:v>
                </c:pt>
                <c:pt idx="2">
                  <c:v>86.92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6676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442-B745-B646-00469FE97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vllm-xtu-moe</c:v>
                </c:pt>
              </c:strCache>
            </c:strRef>
          </c:tx>
          <c:spPr>
            <a:solidFill>
              <a:srgbClr val="97D37E"/>
            </a:solidFill>
            <a:ln>
              <a:solidFill>
                <a:srgbClr val="97D37E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8EEF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C=1</c:v>
                </c:pt>
                <c:pt idx="1">
                  <c:v>C=2</c:v>
                </c:pt>
                <c:pt idx="2">
                  <c:v>C=4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32.67</c:v>
                </c:pt>
                <c:pt idx="1">
                  <c:v>59.89</c:v>
                </c:pt>
                <c:pt idx="2">
                  <c:v>100.16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97D37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442-B745-B646-00469FE973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DADB9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l"/>
        <c:majorGridlines>
          <c:spPr>
            <a:ln>
              <a:solidFill>
                <a:srgbClr val="36465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DADB9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20"/>
      </c:valAx>
    </c:plotArea>
    <c:legend>
      <c:legendPos val="b"/>
      <c:legendEntry>
        <c:idx val="0"/>
        <c:txPr>
          <a:bodyPr/>
          <a:lstStyle/>
          <a:p>
            <a: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pPr>
            <a:endParaRPr lang="zh-CN"/>
          </a:p>
        </c:txPr>
      </c:legendEntry>
      <c:layout>
        <c:manualLayout>
          <c:xMode val="edge"/>
          <c:yMode val="edge"/>
          <c:x val="0.17991290585204628"/>
          <c:y val="0.14691462909241607"/>
          <c:w val="0.44341477714591232"/>
          <c:h val="8.1155546346180413E-2"/>
        </c:manualLayout>
      </c:layout>
      <c:overlay val="1"/>
      <c:txPr>
        <a:bodyPr/>
        <a:lstStyle/>
        <a:p>
          <a:pPr>
            <a:defRPr>
              <a:solidFill>
                <a:srgbClr val="92D050"/>
              </a:solidFill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纯 GPU</c:v>
                </c:pt>
              </c:strCache>
            </c:strRef>
          </c:tx>
          <c:spPr>
            <a:solidFill>
              <a:srgbClr val="36C2B5"/>
            </a:solidFill>
            <a:ln>
              <a:solidFill>
                <a:srgbClr val="36C2B5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0E162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无优化基线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17.32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6C2B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82-3941-89A4-9C1595366D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拷贝 / 派发</c:v>
                </c:pt>
              </c:strCache>
            </c:strRef>
          </c:tx>
          <c:spPr>
            <a:solidFill>
              <a:srgbClr val="E6A153"/>
            </a:solidFill>
            <a:ln>
              <a:solidFill>
                <a:srgbClr val="E6A15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0E162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无优化基线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6A15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082-3941-89A4-9C1595366D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CPU MoE</c:v>
                </c:pt>
              </c:strCache>
            </c:strRef>
          </c:tx>
          <c:spPr>
            <a:solidFill>
              <a:srgbClr val="97D37E"/>
            </a:solidFill>
            <a:ln>
              <a:solidFill>
                <a:srgbClr val="97D37E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0E162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无优化基线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17.55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97D37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082-3941-89A4-9C1595366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DADB9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"/>
        </c:scaling>
        <c:delete val="0"/>
        <c:axPos val="b"/>
        <c:majorGridlines>
          <c:spPr>
            <a:ln>
              <a:solidFill>
                <a:srgbClr val="36465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DADB9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C=1 TPOT</c:v>
                </c:pt>
              </c:strCache>
            </c:strRef>
          </c:tx>
          <c:spPr>
            <a:ln w="31750">
              <a:solidFill>
                <a:srgbClr val="36C2B5"/>
              </a:solidFill>
            </a:ln>
          </c:spPr>
          <c:marker>
            <c:symbol val="diamond"/>
            <c:size val="8"/>
            <c:spPr>
              <a:solidFill>
                <a:srgbClr val="36C2B5"/>
              </a:solidFill>
              <a:ln>
                <a:solidFill>
                  <a:srgbClr val="36C2B5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8EEF2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起点</c:v>
                </c:pt>
                <c:pt idx="1">
                  <c:v>+5 层常驻</c:v>
                </c:pt>
                <c:pt idx="2">
                  <c:v>+11 层 + PERMV</c:v>
                </c:pt>
                <c:pt idx="3">
                  <c:v>+12 层 + 异步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37.33</c:v>
                </c:pt>
                <c:pt idx="1">
                  <c:v>33.82</c:v>
                </c:pt>
                <c:pt idx="2">
                  <c:v>31.78</c:v>
                </c:pt>
                <c:pt idx="3">
                  <c:v>28.13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57-2348-8993-DD1B2C92E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DADB9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"/>
          <c:min val="25"/>
        </c:scaling>
        <c:delete val="0"/>
        <c:axPos val="l"/>
        <c:majorGridlines>
          <c:spPr>
            <a:ln>
              <a:solidFill>
                <a:srgbClr val="36465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DADB9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804672"/>
            <a:ext cx="91440" cy="164592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3327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>
                <a:solidFill>
                  <a:srgbClr val="E8EEF2"/>
                </a:solidFill>
                <a:latin typeface="Microsoft YaHei"/>
              </a:rPr>
              <a:t>vllm-xtu-moe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435608"/>
            <a:ext cx="102412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36C2B5"/>
                </a:solidFill>
                <a:latin typeface="Microsoft YaHei"/>
              </a:rPr>
              <a:t>在廉价 CPU + GPU 异构设备上运行超大 MoE 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029968"/>
            <a:ext cx="96926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9DADB9"/>
                </a:solidFill>
                <a:latin typeface="Microsoft YaHei"/>
              </a:rPr>
              <a:t>开源、可改造、可观测的混合推理实现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880360"/>
            <a:ext cx="10058400" cy="82296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3127248"/>
            <a:ext cx="95097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2×A100-40GB + 2×EPYC 9654  ·  C=4 聚合 100.16 tok/s  ·  同机专有引擎的 1.15×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51960"/>
            <a:ext cx="2651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36C2B5"/>
                </a:solidFill>
                <a:latin typeface="Microsoft YaHei"/>
              </a:rPr>
              <a:t>28.13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C=1 TPOT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5166360"/>
            <a:ext cx="2377440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79" y="4251960"/>
            <a:ext cx="2651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699DD5"/>
                </a:solidFill>
                <a:latin typeface="Microsoft YaHei"/>
              </a:rPr>
              <a:t>59.89 t/s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4754880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C=2 聚合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79" y="5166360"/>
            <a:ext cx="2377440" cy="0"/>
          </a:xfrm>
          <a:prstGeom prst="line">
            <a:avLst/>
          </a:prstGeom>
          <a:ln w="25400">
            <a:solidFill>
              <a:srgbClr val="69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4251960"/>
            <a:ext cx="2651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97D37E"/>
                </a:solidFill>
                <a:latin typeface="Microsoft YaHei"/>
              </a:rPr>
              <a:t>100.16 t/s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54880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C=4 聚合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3800" y="5166360"/>
            <a:ext cx="2377440" cy="0"/>
          </a:xfrm>
          <a:prstGeom prst="line">
            <a:avLst/>
          </a:prstGeom>
          <a:ln w="25400">
            <a:solidFill>
              <a:srgbClr val="97D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" y="5897880"/>
            <a:ext cx="6400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刘锋  ·  2026-09-15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897880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>
                <a:solidFill>
                  <a:srgbClr val="9DADB9"/>
                </a:solidFill>
                <a:latin typeface="Microsoft YaHei"/>
              </a:rPr>
              <a:t>中国开源软件协会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技术宣讲 · 数据均为本机实测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>
                <a:solidFill>
                  <a:srgbClr val="36C2B5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966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E8EEF2"/>
                </a:solidFill>
                <a:latin typeface="Microsoft YaHei"/>
              </a:rPr>
              <a:t>为什么做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8869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9DADB9"/>
                </a:solidFill>
                <a:latin typeface="Microsoft YaHei"/>
              </a:rPr>
              <a:t>算力成本与可研究性，决定了这条技术路线。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840480"/>
            <a:ext cx="2816352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9893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vllm-xtu-moe  ·  刘锋  ·  2026-09-15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技术宣讲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01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同一代模型，设备门槛相差一个数量级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目标是单人和小组“够用”，不是追求集群榜单。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3154680" cy="1234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2743200" cy="4985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3000" b="1" dirty="0">
                <a:solidFill>
                  <a:srgbClr val="D6676C"/>
                </a:solidFill>
                <a:latin typeface="Microsoft YaHei"/>
              </a:rPr>
              <a:t>300-1400万</a:t>
            </a:r>
            <a:endParaRPr sz="3000" b="1" dirty="0">
              <a:solidFill>
                <a:srgbClr val="D6676C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587752"/>
            <a:ext cx="274320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dirty="0">
                <a:solidFill>
                  <a:srgbClr val="9DADB9"/>
                </a:solidFill>
                <a:latin typeface="Microsoft YaHei"/>
              </a:rPr>
              <a:t>H200</a:t>
            </a:r>
            <a:r>
              <a:rPr lang="en-US" altLang="zh-CN" sz="1100" b="0" dirty="0">
                <a:solidFill>
                  <a:srgbClr val="9DADB9"/>
                </a:solidFill>
                <a:latin typeface="Microsoft YaHei"/>
              </a:rPr>
              <a:t>/B300</a:t>
            </a:r>
            <a:r>
              <a:rPr sz="1100" b="0" dirty="0">
                <a:solidFill>
                  <a:srgbClr val="9DADB9"/>
                </a:solidFill>
                <a:latin typeface="Microsoft YaHei"/>
              </a:rPr>
              <a:t> </a:t>
            </a:r>
            <a:r>
              <a:rPr lang="zh-CN" altLang="en-US" sz="1100" b="0" dirty="0">
                <a:solidFill>
                  <a:srgbClr val="9DADB9"/>
                </a:solidFill>
                <a:latin typeface="Microsoft YaHei"/>
              </a:rPr>
              <a:t>生产级</a:t>
            </a:r>
            <a:endParaRPr sz="11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3154680" cy="1234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029968"/>
            <a:ext cx="2743200" cy="4985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rgbClr val="36C2B5"/>
                </a:solidFill>
                <a:latin typeface="Microsoft YaHei"/>
              </a:rPr>
              <a:t>30-50</a:t>
            </a:r>
            <a:r>
              <a:rPr lang="zh-CN" altLang="en-US" sz="3000" b="1" dirty="0">
                <a:solidFill>
                  <a:srgbClr val="36C2B5"/>
                </a:solidFill>
                <a:latin typeface="Microsoft YaHei"/>
              </a:rPr>
              <a:t>万</a:t>
            </a:r>
            <a:endParaRPr sz="3000" b="1" dirty="0">
              <a:solidFill>
                <a:srgbClr val="36C2B5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09160" y="2587752"/>
            <a:ext cx="2743200" cy="3754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altLang="zh-CN" sz="1100" b="0" dirty="0">
                <a:solidFill>
                  <a:srgbClr val="9DADB9"/>
                </a:solidFill>
                <a:latin typeface="Microsoft YaHei"/>
              </a:rPr>
              <a:t>2x</a:t>
            </a:r>
            <a:r>
              <a:rPr lang="zh-CN" altLang="en-US" sz="1100" b="0" dirty="0">
                <a:solidFill>
                  <a:srgbClr val="9DADB9"/>
                </a:solidFill>
                <a:latin typeface="Microsoft YaHei"/>
              </a:rPr>
              <a:t> </a:t>
            </a:r>
            <a:r>
              <a:rPr sz="1100" b="0" dirty="0">
                <a:solidFill>
                  <a:srgbClr val="9DADB9"/>
                </a:solidFill>
                <a:latin typeface="Microsoft YaHei"/>
              </a:rPr>
              <a:t>A100-40GB，本项目实测</a:t>
            </a:r>
            <a:endParaRPr lang="en-US" sz="1100" b="0" dirty="0">
              <a:solidFill>
                <a:srgbClr val="9DADB9"/>
              </a:solidFill>
              <a:latin typeface="Microsoft YaHei"/>
            </a:endParaRPr>
          </a:p>
          <a:p>
            <a:pPr algn="l"/>
            <a:r>
              <a:rPr lang="en-US" altLang="zh-CN" sz="1100" dirty="0">
                <a:solidFill>
                  <a:srgbClr val="9DADB9"/>
                </a:solidFill>
                <a:latin typeface="Microsoft YaHei"/>
              </a:rPr>
              <a:t>RTX</a:t>
            </a:r>
            <a:r>
              <a:rPr lang="zh-CN" altLang="en-US" sz="1100" dirty="0">
                <a:solidFill>
                  <a:srgbClr val="9DADB9"/>
                </a:solidFill>
                <a:latin typeface="Microsoft YaHei"/>
              </a:rPr>
              <a:t> </a:t>
            </a:r>
            <a:r>
              <a:rPr lang="en-US" altLang="zh-CN" sz="1100" dirty="0">
                <a:solidFill>
                  <a:srgbClr val="9DADB9"/>
                </a:solidFill>
                <a:latin typeface="Microsoft YaHei"/>
              </a:rPr>
              <a:t>Pro</a:t>
            </a:r>
            <a:r>
              <a:rPr lang="zh-CN" altLang="en-US" sz="1100" dirty="0">
                <a:solidFill>
                  <a:srgbClr val="9DADB9"/>
                </a:solidFill>
                <a:latin typeface="Microsoft YaHei"/>
              </a:rPr>
              <a:t> </a:t>
            </a:r>
            <a:r>
              <a:rPr lang="en-US" altLang="zh-CN" sz="1100" dirty="0">
                <a:solidFill>
                  <a:srgbClr val="9DADB9"/>
                </a:solidFill>
                <a:latin typeface="Microsoft YaHei"/>
              </a:rPr>
              <a:t>6000</a:t>
            </a:r>
            <a:r>
              <a:rPr lang="zh-CN" altLang="en-US" sz="1100" dirty="0">
                <a:solidFill>
                  <a:srgbClr val="9DADB9"/>
                </a:solidFill>
                <a:latin typeface="Microsoft YaHei"/>
              </a:rPr>
              <a:t> 性能最佳</a:t>
            </a:r>
            <a:endParaRPr sz="11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154680" cy="1234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029968"/>
            <a:ext cx="27432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000" b="1" dirty="0">
                <a:solidFill>
                  <a:srgbClr val="97D37E"/>
                </a:solidFill>
                <a:latin typeface="Microsoft YaHei"/>
              </a:rPr>
              <a:t>≈1/10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8775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dirty="0" err="1">
                <a:solidFill>
                  <a:srgbClr val="9DADB9"/>
                </a:solidFill>
                <a:latin typeface="Microsoft YaHei"/>
              </a:rPr>
              <a:t>显存规模与成本量级</a:t>
            </a:r>
            <a:endParaRPr sz="11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3520440"/>
            <a:ext cx="5074920" cy="19202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749039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36C2B5"/>
                </a:solidFill>
                <a:latin typeface="Microsoft YaHei"/>
              </a:rPr>
              <a:t>可用标准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4297680" cy="7140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dirty="0" err="1">
                <a:solidFill>
                  <a:srgbClr val="E8EEF2"/>
                </a:solidFill>
                <a:latin typeface="Microsoft YaHei"/>
              </a:rPr>
              <a:t>单流</a:t>
            </a:r>
            <a:r>
              <a:rPr sz="2200" b="1" dirty="0">
                <a:solidFill>
                  <a:srgbClr val="E8EEF2"/>
                </a:solidFill>
                <a:latin typeface="Microsoft YaHei"/>
              </a:rPr>
              <a:t> 20–40 </a:t>
            </a:r>
            <a:r>
              <a:rPr sz="2200" b="1" dirty="0" err="1">
                <a:solidFill>
                  <a:srgbClr val="E8EEF2"/>
                </a:solidFill>
                <a:latin typeface="Microsoft YaHei"/>
              </a:rPr>
              <a:t>tok</a:t>
            </a:r>
            <a:r>
              <a:rPr sz="2200" b="1" dirty="0">
                <a:solidFill>
                  <a:srgbClr val="E8EEF2"/>
                </a:solidFill>
                <a:latin typeface="Microsoft YaHei"/>
              </a:rPr>
              <a:t>/s
</a:t>
            </a:r>
            <a:r>
              <a:rPr sz="2200" b="1" dirty="0" err="1">
                <a:solidFill>
                  <a:srgbClr val="E8EEF2"/>
                </a:solidFill>
                <a:latin typeface="Microsoft YaHei"/>
              </a:rPr>
              <a:t>并发</a:t>
            </a:r>
            <a:r>
              <a:rPr sz="2200" b="1" dirty="0">
                <a:solidFill>
                  <a:srgbClr val="E8EEF2"/>
                </a:solidFill>
                <a:latin typeface="Microsoft YaHei"/>
              </a:rPr>
              <a:t> 60–1</a:t>
            </a:r>
            <a:r>
              <a:rPr lang="en-US" altLang="zh-CN" sz="2200" b="1" dirty="0">
                <a:solidFill>
                  <a:srgbClr val="E8EEF2"/>
                </a:solidFill>
                <a:latin typeface="Microsoft YaHei"/>
              </a:rPr>
              <a:t>5</a:t>
            </a:r>
            <a:r>
              <a:rPr sz="2200" b="1" dirty="0">
                <a:solidFill>
                  <a:srgbClr val="E8EEF2"/>
                </a:solidFill>
                <a:latin typeface="Microsoft YaHei"/>
              </a:rPr>
              <a:t>0 </a:t>
            </a:r>
            <a:r>
              <a:rPr sz="2200" b="1" dirty="0" err="1">
                <a:solidFill>
                  <a:srgbClr val="E8EEF2"/>
                </a:solidFill>
                <a:latin typeface="Microsoft YaHei"/>
              </a:rPr>
              <a:t>tok</a:t>
            </a:r>
            <a:r>
              <a:rPr sz="2200" b="1" dirty="0">
                <a:solidFill>
                  <a:srgbClr val="E8EEF2"/>
                </a:solidFill>
                <a:latin typeface="Microsoft YaHei"/>
              </a:rPr>
              <a:t>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074920" cy="19202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749039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E6A153"/>
                </a:solidFill>
                <a:latin typeface="Microsoft YaHei"/>
              </a:rPr>
              <a:t>目标用户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78808"/>
            <a:ext cx="44805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E8EEF2"/>
                </a:solidFill>
                <a:latin typeface="Microsoft YaHei"/>
              </a:rPr>
              <a:t>科研、教学、小型实体应用
以及高信息安全要求的私有化部署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01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把专家权重放在 CPU / DRAM，价值不只是省显存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它让路由、激活和安全检查进入可观测的主机路径。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074920" cy="3977639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029968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9DADB9"/>
                </a:solidFill>
                <a:latin typeface="Microsoft YaHei"/>
              </a:rPr>
              <a:t>GPU-only / 典型 offload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42032"/>
            <a:ext cx="4389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D6676C"/>
                </a:solidFill>
                <a:latin typeface="Microsoft YaHei"/>
              </a:rPr>
              <a:t>CPU 主要承担显存扩展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73552"/>
            <a:ext cx="43891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Microsoft YaHei"/>
              </a:rPr>
              <a:t>权重按需搬到 GPU
最终仍在 GPU 上计算
中间过程难插桩、难复盘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074920" cy="3977639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029968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36C2B5"/>
                </a:solidFill>
                <a:latin typeface="Microsoft YaHei"/>
              </a:rPr>
              <a:t>vllm-xtu-moe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4389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97D37E"/>
                </a:solidFill>
                <a:latin typeface="Microsoft YaHei"/>
              </a:rPr>
              <a:t>CPU 真正计算专家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73552"/>
            <a:ext cx="43891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E8EEF2"/>
                </a:solidFill>
                <a:latin typeface="Microsoft YaHei"/>
              </a:rPr>
              <a:t>逐层统计专家路由与激活</a:t>
            </a:r>
            <a:r>
              <a:rPr sz="1600" b="0" dirty="0">
                <a:solidFill>
                  <a:srgbClr val="E8EEF2"/>
                </a:solidFill>
                <a:latin typeface="Microsoft YaHei"/>
              </a:rPr>
              <a:t>
</a:t>
            </a:r>
            <a:r>
              <a:rPr sz="1600" b="0" dirty="0" err="1">
                <a:solidFill>
                  <a:srgbClr val="E8EEF2"/>
                </a:solidFill>
                <a:latin typeface="Microsoft YaHei"/>
              </a:rPr>
              <a:t>权重进</a:t>
            </a:r>
            <a:r>
              <a:rPr sz="1600" b="0" dirty="0">
                <a:solidFill>
                  <a:srgbClr val="E8EEF2"/>
                </a:solidFill>
                <a:latin typeface="Microsoft YaHei"/>
              </a:rPr>
              <a:t> GPU </a:t>
            </a:r>
            <a:r>
              <a:rPr sz="1600" b="0" dirty="0" err="1">
                <a:solidFill>
                  <a:srgbClr val="E8EEF2"/>
                </a:solidFill>
                <a:latin typeface="Microsoft YaHei"/>
              </a:rPr>
              <a:t>前可插入审计</a:t>
            </a:r>
            <a:r>
              <a:rPr sz="1600" b="0" dirty="0">
                <a:solidFill>
                  <a:srgbClr val="E8EEF2"/>
                </a:solidFill>
                <a:latin typeface="Microsoft YaHei"/>
              </a:rPr>
              <a:t>
C++ / AVX-512 </a:t>
            </a:r>
            <a:r>
              <a:rPr sz="1600" b="0" dirty="0" err="1">
                <a:solidFill>
                  <a:srgbClr val="E8EEF2"/>
                </a:solidFill>
                <a:latin typeface="Microsoft YaHei"/>
              </a:rPr>
              <a:t>内核可改造</a:t>
            </a:r>
            <a:endParaRPr sz="1600" b="0" dirty="0">
              <a:solidFill>
                <a:srgbClr val="E8EEF2"/>
              </a:solidFill>
              <a:latin typeface="Microsoft YaHe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01 /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现有方案各有侧重，空白点在右上角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开源、CPU 真算、服务器级 AMD 平台、同机性能对标。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783080"/>
            <a:ext cx="8732520" cy="3977639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828800" y="5257800"/>
            <a:ext cx="7452360" cy="0"/>
          </a:xfrm>
          <a:prstGeom prst="line">
            <a:avLst/>
          </a:prstGeom>
          <a:ln w="12700">
            <a:solidFill>
              <a:srgbClr val="9DAD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28800" y="2167563"/>
            <a:ext cx="0" cy="3108960"/>
          </a:xfrm>
          <a:prstGeom prst="line">
            <a:avLst/>
          </a:prstGeom>
          <a:ln w="12700">
            <a:solidFill>
              <a:srgbClr val="9DAD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0240" y="5394960"/>
            <a:ext cx="45720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9DADB9"/>
                </a:solidFill>
                <a:latin typeface="Microsoft YaHei"/>
              </a:rPr>
              <a:t>闭源 / 专有  →  开源 / 可改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587" y="2256391"/>
            <a:ext cx="320040" cy="2468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9DADB9"/>
                </a:solidFill>
                <a:latin typeface="Microsoft YaHei"/>
              </a:rPr>
              <a:t>CPU
参与
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2307" y="4935583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9DADB9"/>
                </a:solidFill>
                <a:latin typeface="Microsoft YaHei"/>
              </a:rPr>
              <a:t>GPU-only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4480559"/>
            <a:ext cx="1737360" cy="475488"/>
          </a:xfrm>
          <a:prstGeom prst="rect">
            <a:avLst/>
          </a:prstGeom>
          <a:solidFill>
            <a:srgbClr val="699DD5"/>
          </a:solidFill>
          <a:ln>
            <a:solidFill>
              <a:srgbClr val="699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4608575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0E1622"/>
                </a:solidFill>
                <a:latin typeface="Microsoft YaHei"/>
              </a:rPr>
              <a:t>vLLM 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074919"/>
            <a:ext cx="2011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9DADB9"/>
                </a:solidFill>
                <a:latin typeface="Microsoft YaHei"/>
              </a:rPr>
              <a:t>CPU=显存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175472"/>
            <a:ext cx="1737360" cy="475488"/>
          </a:xfrm>
          <a:prstGeom prst="rect">
            <a:avLst/>
          </a:prstGeom>
          <a:solidFill>
            <a:srgbClr val="E6A153"/>
          </a:solidFill>
          <a:ln>
            <a:solidFill>
              <a:srgbClr val="E6A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303488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dirty="0" err="1">
                <a:solidFill>
                  <a:srgbClr val="0E1622"/>
                </a:solidFill>
                <a:latin typeface="Microsoft YaHei"/>
              </a:rPr>
              <a:t>ktransformers</a:t>
            </a:r>
            <a:endParaRPr sz="1100" b="1" dirty="0">
              <a:solidFill>
                <a:srgbClr val="0E1622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3769832"/>
            <a:ext cx="2011680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dirty="0">
                <a:solidFill>
                  <a:srgbClr val="9DADB9"/>
                </a:solidFill>
                <a:latin typeface="Microsoft YaHei"/>
              </a:rPr>
              <a:t>AMX / </a:t>
            </a:r>
            <a:r>
              <a:rPr sz="900" b="0" dirty="0" err="1">
                <a:solidFill>
                  <a:srgbClr val="9DADB9"/>
                </a:solidFill>
                <a:latin typeface="Microsoft YaHei"/>
              </a:rPr>
              <a:t>SGLang</a:t>
            </a:r>
            <a:r>
              <a:rPr lang="en-US" sz="900" b="0" dirty="0">
                <a:solidFill>
                  <a:srgbClr val="9DADB9"/>
                </a:solidFill>
                <a:latin typeface="Microsoft YaHei"/>
              </a:rPr>
              <a:t> /</a:t>
            </a:r>
            <a:r>
              <a:rPr lang="zh-CN" altLang="en-US" sz="900" b="0" dirty="0">
                <a:solidFill>
                  <a:srgbClr val="9DADB9"/>
                </a:solidFill>
                <a:latin typeface="Microsoft YaHei"/>
              </a:rPr>
              <a:t> 重心转移</a:t>
            </a:r>
            <a:endParaRPr sz="9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38528" y="2331720"/>
            <a:ext cx="1737360" cy="475488"/>
          </a:xfrm>
          <a:prstGeom prst="rect">
            <a:avLst/>
          </a:prstGeom>
          <a:solidFill>
            <a:srgbClr val="D6676C"/>
          </a:solidFill>
          <a:ln>
            <a:solidFill>
              <a:srgbClr val="D66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0" y="2487168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dirty="0" err="1">
                <a:solidFill>
                  <a:srgbClr val="0E1622"/>
                </a:solidFill>
                <a:latin typeface="Microsoft YaHei"/>
              </a:rPr>
              <a:t>lk_moe</a:t>
            </a:r>
            <a:endParaRPr sz="1100" b="1" dirty="0">
              <a:solidFill>
                <a:srgbClr val="0E1622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1368" y="2926080"/>
            <a:ext cx="2011680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dirty="0" err="1">
                <a:solidFill>
                  <a:srgbClr val="9DADB9"/>
                </a:solidFill>
                <a:latin typeface="Microsoft YaHei"/>
              </a:rPr>
              <a:t>性能</a:t>
            </a:r>
            <a:r>
              <a:rPr lang="en-US" sz="900" dirty="0" err="1">
                <a:solidFill>
                  <a:srgbClr val="9DADB9"/>
                </a:solidFill>
                <a:latin typeface="Microsoft YaHei"/>
              </a:rPr>
              <a:t>好</a:t>
            </a:r>
            <a:r>
              <a:rPr sz="900" b="0" dirty="0" err="1">
                <a:solidFill>
                  <a:srgbClr val="9DADB9"/>
                </a:solidFill>
                <a:latin typeface="Microsoft YaHei"/>
              </a:rPr>
              <a:t>·闭源</a:t>
            </a:r>
            <a:endParaRPr sz="9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88936" y="2350988"/>
            <a:ext cx="1737360" cy="475488"/>
          </a:xfrm>
          <a:prstGeom prst="rect">
            <a:avLst/>
          </a:prstGeom>
          <a:solidFill>
            <a:srgbClr val="97D37E"/>
          </a:solidFill>
          <a:ln>
            <a:solidFill>
              <a:srgbClr val="97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8936" y="2479004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0E1622"/>
                </a:solidFill>
                <a:latin typeface="Microsoft YaHei"/>
              </a:rPr>
              <a:t>vllm-xtu-moe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945347"/>
            <a:ext cx="2011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9DADB9"/>
                </a:solidFill>
                <a:latin typeface="Microsoft YaHei"/>
              </a:rPr>
              <a:t>CPU 真算·开源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1828800"/>
            <a:ext cx="1371600" cy="3840480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78440" y="2176272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97D37E"/>
                </a:solidFill>
                <a:latin typeface="Microsoft YaHei"/>
              </a:rPr>
              <a:t>本项目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2743200"/>
            <a:ext cx="1051560" cy="1325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Microsoft YaHei"/>
              </a:rPr>
              <a:t>开放
可观测
可改造
能对标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>
                <a:solidFill>
                  <a:srgbClr val="36C2B5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966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E8EEF2"/>
                </a:solidFill>
                <a:latin typeface="Microsoft YaHei"/>
              </a:rPr>
              <a:t>怎么做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8869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9DADB9"/>
                </a:solidFill>
                <a:latin typeface="Microsoft YaHei"/>
              </a:rPr>
              <a:t>把 MoE 层劈开，再用工程手段补回路径开销。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840480"/>
            <a:ext cx="2816352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9893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vllm-xtu-moe  ·  刘锋  ·  2026-09-15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技术宣讲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02 /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系统架构：注意力留在 GPU，专家计算在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模型并行的边界清晰，数据交换集中在少数几条路径。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3840480" cy="3383280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36C2B5"/>
                </a:solidFill>
                <a:latin typeface="Microsoft YaHei"/>
              </a:rPr>
              <a:t>GPU · 2×A100-40GB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97480"/>
            <a:ext cx="3291840" cy="411480"/>
          </a:xfrm>
          <a:prstGeom prst="rect">
            <a:avLst/>
          </a:prstGeom>
          <a:solidFill>
            <a:srgbClr val="234246"/>
          </a:solidFill>
          <a:ln>
            <a:solidFill>
              <a:srgbClr val="234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807208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Attention / KV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355848"/>
            <a:ext cx="3291840" cy="411480"/>
          </a:xfrm>
          <a:prstGeom prst="rect">
            <a:avLst/>
          </a:prstGeom>
          <a:solidFill>
            <a:srgbClr val="234246"/>
          </a:solidFill>
          <a:ln>
            <a:solidFill>
              <a:srgbClr val="234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465576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Dense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014216"/>
            <a:ext cx="3291840" cy="411480"/>
          </a:xfrm>
          <a:prstGeom prst="rect">
            <a:avLst/>
          </a:prstGeom>
          <a:solidFill>
            <a:srgbClr val="234246"/>
          </a:solidFill>
          <a:ln>
            <a:solidFill>
              <a:srgbClr val="234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123944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GPU 常驻 MoE（最多 12 层）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828800"/>
            <a:ext cx="3840480" cy="338328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2084831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97D37E"/>
                </a:solidFill>
                <a:latin typeface="Microsoft YaHei"/>
              </a:rPr>
              <a:t>CPU · 2×EPYC 9654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697480"/>
            <a:ext cx="3291840" cy="411480"/>
          </a:xfrm>
          <a:prstGeom prst="rect">
            <a:avLst/>
          </a:prstGeom>
          <a:solidFill>
            <a:srgbClr val="2D392B"/>
          </a:solidFill>
          <a:ln>
            <a:solidFill>
              <a:srgbClr val="2D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807208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256 experts · top-6 路由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355848"/>
            <a:ext cx="3291840" cy="411480"/>
          </a:xfrm>
          <a:prstGeom prst="rect">
            <a:avLst/>
          </a:prstGeom>
          <a:solidFill>
            <a:srgbClr val="2D392B"/>
          </a:solidFill>
          <a:ln>
            <a:solidFill>
              <a:srgbClr val="2D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465576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AVX-512 BF16 + MXFP4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4014216"/>
            <a:ext cx="3291840" cy="411480"/>
          </a:xfrm>
          <a:prstGeom prst="rect">
            <a:avLst/>
          </a:prstGeom>
          <a:solidFill>
            <a:srgbClr val="2D392B"/>
          </a:solidFill>
          <a:ln>
            <a:solidFill>
              <a:srgbClr val="2D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123944"/>
            <a:ext cx="32004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8EEF2"/>
                </a:solidFill>
                <a:latin typeface="Microsoft YaHei"/>
              </a:rPr>
              <a:t>NUMA 分片 · 本地内存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720" y="2971800"/>
            <a:ext cx="2880359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00600" y="2523744"/>
            <a:ext cx="2514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36C2B5"/>
                </a:solidFill>
                <a:latin typeface="Microsoft YaHei"/>
              </a:rPr>
              <a:t>路由后的 token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617720" y="4343400"/>
            <a:ext cx="2880359" cy="0"/>
          </a:xfrm>
          <a:prstGeom prst="line">
            <a:avLst/>
          </a:prstGeom>
          <a:ln w="25400">
            <a:solidFill>
              <a:srgbClr val="97D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00600" y="4480560"/>
            <a:ext cx="2514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97D37E"/>
                </a:solidFill>
                <a:latin typeface="Microsoft YaHei"/>
              </a:rPr>
              <a:t>部分和 / EP 归约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246120"/>
            <a:ext cx="2011680" cy="685800"/>
          </a:xfrm>
          <a:prstGeom prst="rect">
            <a:avLst/>
          </a:prstGeom>
          <a:solidFill>
            <a:srgbClr val="27343F"/>
          </a:solidFill>
          <a:ln>
            <a:solidFill>
              <a:srgbClr val="273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3410712"/>
            <a:ext cx="18288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E6A153"/>
                </a:solidFill>
                <a:latin typeface="Microsoft YaHei"/>
              </a:rPr>
              <a:t>/dev/shm
共享内存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69280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E6A153"/>
                </a:solidFill>
                <a:latin typeface="Microsoft YaHei"/>
              </a:rPr>
              <a:t>mapped flag + cuStreamWriteValue32 / WaitValue32 + 常驻 worker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CB538-AEAA-91E4-2D5A-91DA3EEE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20F5D-2938-6549-CC41-06B6799B976F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DC16A-8FC4-778E-8DE5-C3B0201006A1}"/>
              </a:ext>
            </a:extLst>
          </p:cNvPr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02 / HOW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5C7F3-D33A-0CC3-15B9-AB367AB6115A}"/>
              </a:ext>
            </a:extLst>
          </p:cNvPr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系统架构：注意力留在 GPU，专家计算在 CPU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06B855B-3F46-D34F-32C6-9475111A8C6B}"/>
              </a:ext>
            </a:extLst>
          </p:cNvPr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614E35-EEC6-501B-EDB5-D09868A09319}"/>
              </a:ext>
            </a:extLst>
          </p:cNvPr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CD26A-87C7-E2F5-1E20-A0E0C68F2A0B}"/>
              </a:ext>
            </a:extLst>
          </p:cNvPr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07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023D61B4-E91C-A5D8-BD67-C13382FBDE4A}"/>
              </a:ext>
            </a:extLst>
          </p:cNvPr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BE4CE6-BED0-E646-5AF2-13F41249CB02}"/>
              </a:ext>
            </a:extLst>
          </p:cNvPr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5B444-0825-9928-98D5-05D68D6EBDBA}"/>
              </a:ext>
            </a:extLst>
          </p:cNvPr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07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3EAE429-87B7-9D4F-8E3D-8A04D0F7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83" y="1176606"/>
            <a:ext cx="7854914" cy="51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0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02 /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五条技术线，分别解决编排、计算、本地性和派发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每条技术线都有对应的实测结果。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828800"/>
            <a:ext cx="196596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1828800"/>
            <a:ext cx="1965960" cy="9144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12140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36C2B5"/>
                </a:solidFill>
                <a:latin typeface="Microsoft YaHei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542032"/>
            <a:ext cx="16459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编排移植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401568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9DADB9"/>
                </a:solidFill>
                <a:latin typeface="Microsoft YaHei"/>
              </a:rPr>
              <a:t>参考链路完整移植进 vLLM fork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4" y="4462272"/>
            <a:ext cx="1618488" cy="0"/>
          </a:xfrm>
          <a:prstGeom prst="line">
            <a:avLst/>
          </a:prstGeom>
          <a:ln w="1270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9264" y="4709160"/>
            <a:ext cx="16276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36C2B5"/>
                </a:solidFill>
                <a:latin typeface="Microsoft YaHei"/>
              </a:rPr>
              <a:t>只换引擎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28800"/>
            <a:ext cx="196596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7520" y="1828800"/>
            <a:ext cx="1965960" cy="91440"/>
          </a:xfrm>
          <a:prstGeom prst="rect">
            <a:avLst/>
          </a:prstGeom>
          <a:solidFill>
            <a:srgbClr val="97D37E"/>
          </a:solidFill>
          <a:ln>
            <a:solidFill>
              <a:srgbClr val="97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82112" y="212140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97D37E"/>
                </a:solidFill>
                <a:latin typeface="Microsoft YaHei"/>
              </a:rP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2542032"/>
            <a:ext cx="16459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GPU 常驻层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401568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9DADB9"/>
                </a:solidFill>
                <a:latin typeface="Microsoft YaHei"/>
              </a:rPr>
              <a:t>每层 −0.70 ms/token（C=1）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4462272"/>
            <a:ext cx="1618488" cy="0"/>
          </a:xfrm>
          <a:prstGeom prst="line">
            <a:avLst/>
          </a:prstGeom>
          <a:ln w="1270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82112" y="4709160"/>
            <a:ext cx="16276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97D37E"/>
                </a:solidFill>
                <a:latin typeface="Microsoft YaHei"/>
              </a:rPr>
              <a:t>显存换延迟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0368" y="1828800"/>
            <a:ext cx="196596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30368" y="1828800"/>
            <a:ext cx="1965960" cy="91440"/>
          </a:xfrm>
          <a:prstGeom prst="rect">
            <a:avLst/>
          </a:prstGeom>
          <a:solidFill>
            <a:srgbClr val="E6A153"/>
          </a:solidFill>
          <a:ln>
            <a:solidFill>
              <a:srgbClr val="E6A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59" y="212140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E6A153"/>
                </a:solidFill>
                <a:latin typeface="Microsoft YaHei"/>
              </a:rPr>
              <a:t>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2542032"/>
            <a:ext cx="16459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CPU 内核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3401568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9DADB9"/>
                </a:solidFill>
                <a:latin typeface="Microsoft YaHei"/>
              </a:rPr>
              <a:t>PERMV：19 → 10 条指令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59" y="4462272"/>
            <a:ext cx="1618489" cy="0"/>
          </a:xfrm>
          <a:prstGeom prst="line">
            <a:avLst/>
          </a:prstGeom>
          <a:ln w="1270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94959" y="4709160"/>
            <a:ext cx="16276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E6A153"/>
                </a:solidFill>
                <a:latin typeface="Microsoft YaHei"/>
              </a:rPr>
              <a:t>Zen4 / AVX-512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3216" y="1828800"/>
            <a:ext cx="196596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43216" y="1828800"/>
            <a:ext cx="1965960" cy="91440"/>
          </a:xfrm>
          <a:prstGeom prst="rect">
            <a:avLst/>
          </a:prstGeom>
          <a:solidFill>
            <a:srgbClr val="699DD5"/>
          </a:solidFill>
          <a:ln>
            <a:solidFill>
              <a:srgbClr val="699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07808" y="212140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699DD5"/>
                </a:solidFill>
                <a:latin typeface="Microsoft YaHei"/>
              </a:rPr>
              <a:t>T4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2542032"/>
            <a:ext cx="16459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NUMA 与线程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401568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9DADB9"/>
                </a:solidFill>
                <a:latin typeface="Microsoft YaHei"/>
              </a:rPr>
              <a:t>每 rank 一个 socket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07808" y="4462272"/>
            <a:ext cx="1618488" cy="0"/>
          </a:xfrm>
          <a:prstGeom prst="line">
            <a:avLst/>
          </a:prstGeom>
          <a:ln w="1270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07808" y="4709160"/>
            <a:ext cx="16276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699DD5"/>
                </a:solidFill>
                <a:latin typeface="Microsoft YaHei"/>
              </a:rPr>
              <a:t>4–5 核 / CCD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56064" y="1828800"/>
            <a:ext cx="196596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56064" y="1828800"/>
            <a:ext cx="1965960" cy="91440"/>
          </a:xfrm>
          <a:prstGeom prst="rect">
            <a:avLst/>
          </a:prstGeom>
          <a:solidFill>
            <a:srgbClr val="D6676C"/>
          </a:solidFill>
          <a:ln>
            <a:solidFill>
              <a:srgbClr val="D66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0656" y="2121408"/>
            <a:ext cx="1600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D6676C"/>
                </a:solidFill>
                <a:latin typeface="Microsoft YaHei"/>
              </a:rPr>
              <a:t>T5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2542032"/>
            <a:ext cx="16459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8EEF2"/>
                </a:solidFill>
                <a:latin typeface="Microsoft YaHei"/>
              </a:rPr>
              <a:t>Marshalling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656" y="3401568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9DADB9"/>
                </a:solidFill>
                <a:latin typeface="Microsoft YaHei"/>
              </a:rPr>
              <a:t>V：6.53 → 1.80 ms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820656" y="4462272"/>
            <a:ext cx="1618488" cy="0"/>
          </a:xfrm>
          <a:prstGeom prst="line">
            <a:avLst/>
          </a:prstGeom>
          <a:ln w="1270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20656" y="4709160"/>
            <a:ext cx="16276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D6676C"/>
                </a:solidFill>
                <a:latin typeface="Microsoft YaHei"/>
              </a:rPr>
              <a:t>流内异步握手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>
                <a:solidFill>
                  <a:srgbClr val="36C2B5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966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E8EEF2"/>
                </a:solidFill>
                <a:latin typeface="Microsoft YaHei"/>
              </a:rPr>
              <a:t>结果如何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886968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zh-CN" altLang="en-US" sz="1600" b="0" dirty="0">
                <a:solidFill>
                  <a:srgbClr val="9DADB9"/>
                </a:solidFill>
                <a:latin typeface="Microsoft YaHei"/>
              </a:rPr>
              <a:t>同模型</a:t>
            </a:r>
            <a:r>
              <a:rPr sz="1600" b="0" dirty="0">
                <a:solidFill>
                  <a:srgbClr val="9DADB9"/>
                </a:solidFill>
                <a:latin typeface="Microsoft YaHei"/>
              </a:rPr>
              <a:t>、</a:t>
            </a:r>
            <a:r>
              <a:rPr lang="zh-CN" altLang="en-US" sz="1600" dirty="0">
                <a:solidFill>
                  <a:srgbClr val="9DADB9"/>
                </a:solidFill>
                <a:latin typeface="Microsoft YaHei"/>
              </a:rPr>
              <a:t>同输出</a:t>
            </a:r>
            <a:r>
              <a:rPr sz="1600" b="0" dirty="0">
                <a:solidFill>
                  <a:srgbClr val="9DADB9"/>
                </a:solidFill>
                <a:latin typeface="Microsoft YaHei"/>
              </a:rPr>
              <a:t>、</a:t>
            </a:r>
            <a:r>
              <a:rPr lang="zh-CN" altLang="en-US" sz="1600" dirty="0">
                <a:solidFill>
                  <a:srgbClr val="9DADB9"/>
                </a:solidFill>
                <a:latin typeface="Microsoft YaHei"/>
              </a:rPr>
              <a:t>差别是速度</a:t>
            </a:r>
            <a:r>
              <a:rPr lang="en-US" altLang="zh-CN" sz="1600" dirty="0">
                <a:solidFill>
                  <a:srgbClr val="9DADB9"/>
                </a:solidFill>
                <a:latin typeface="Microsoft YaHei"/>
              </a:rPr>
              <a:t>/</a:t>
            </a:r>
            <a:r>
              <a:rPr lang="zh-CN" altLang="en-US" sz="1600" dirty="0">
                <a:solidFill>
                  <a:srgbClr val="9DADB9"/>
                </a:solidFill>
                <a:latin typeface="Microsoft YaHei"/>
              </a:rPr>
              <a:t>成本</a:t>
            </a:r>
            <a:r>
              <a:rPr sz="1600" b="0" dirty="0">
                <a:solidFill>
                  <a:srgbClr val="9DADB9"/>
                </a:solidFill>
                <a:latin typeface="Microsoft YaHei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840480"/>
            <a:ext cx="2816352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9893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vllm-xtu-moe  ·  刘锋  ·  2026-09-15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技术宣讲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03 /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并发越高，边际成本优势越明显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C=2 打平；C=4 聚合吞吐反超 15%。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987572"/>
              </p:ext>
            </p:extLst>
          </p:nvPr>
        </p:nvGraphicFramePr>
        <p:xfrm>
          <a:off x="86868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874519"/>
            <a:ext cx="3429000" cy="3749039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14884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36C2B5"/>
                </a:solidFill>
                <a:latin typeface="Microsoft YaHei"/>
              </a:rPr>
              <a:t>关键读数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9748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36C2B5"/>
                </a:solidFill>
                <a:latin typeface="Microsoft YaHei"/>
              </a:rPr>
              <a:t>35.5 tok/s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072384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9DADB9"/>
                </a:solidFill>
                <a:latin typeface="Microsoft YaHei"/>
              </a:rPr>
              <a:t>单流解码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47472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699DD5"/>
                </a:solidFill>
                <a:latin typeface="Microsoft YaHei"/>
              </a:rPr>
              <a:t>59.89 t/s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849624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9DADB9"/>
                </a:solidFill>
                <a:latin typeface="Microsoft YaHei"/>
              </a:rPr>
              <a:t>C=2 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25196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97D37E"/>
                </a:solidFill>
                <a:latin typeface="Microsoft YaHei"/>
              </a:rPr>
              <a:t>100.16 t/s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4626864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9DADB9"/>
                </a:solidFill>
                <a:latin typeface="Microsoft YaHei"/>
              </a:rPr>
              <a:t>C=4 聚合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514807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E8EEF2"/>
                </a:solidFill>
                <a:latin typeface="Microsoft YaHei"/>
              </a:rPr>
              <a:t>C=4：1.15× 同机专有引擎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03 /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先做分解，再做优化：37.33 ms 的钱花在哪里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三段严格相加；CPU MoE 与派发是主要成本。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1874519"/>
          <a:ext cx="6629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874519"/>
            <a:ext cx="342900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1583" y="2148840"/>
            <a:ext cx="28346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E6A153"/>
                </a:solidFill>
                <a:latin typeface="Microsoft YaHei"/>
              </a:rPr>
              <a:t>异步握手的收益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724912"/>
            <a:ext cx="27432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E8EEF2"/>
                </a:solidFill>
                <a:latin typeface="Microsoft YaHei"/>
              </a:rPr>
              <a:t>V：6.53 → 1.80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3383280"/>
            <a:ext cx="274320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9DADB9"/>
                </a:solidFill>
                <a:latin typeface="Microsoft YaHei"/>
              </a:rPr>
              <a:t>host-func 每层排空整条流；
mapped flag 让 GPU / CPU 并行推进。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466344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97D37E"/>
                </a:solidFill>
                <a:latin typeface="Microsoft YaHei"/>
              </a:rPr>
              <a:t>C=4 聚合：71.8 → 100.2 t/s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03 /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性能跃迁来自系统级转折，而不是单条指令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常驻层 + 异步握手，带来本轮最大的收益。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804844"/>
              </p:ext>
            </p:extLst>
          </p:nvPr>
        </p:nvGraphicFramePr>
        <p:xfrm>
          <a:off x="868680" y="1828800"/>
          <a:ext cx="6675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909560" y="1828800"/>
            <a:ext cx="3337560" cy="3657600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2121408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36C2B5"/>
                </a:solidFill>
                <a:latin typeface="Microsoft YaHei"/>
              </a:rPr>
              <a:t>累计变化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4320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36C2B5"/>
                </a:solidFill>
                <a:latin typeface="Microsoft YaHei"/>
              </a:rPr>
              <a:t>C=1 TPOT  −25%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33756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699DD5"/>
                </a:solidFill>
                <a:latin typeface="Microsoft YaHei"/>
              </a:rPr>
              <a:t>C=2 聚合  +75%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3192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97D37E"/>
                </a:solidFill>
                <a:latin typeface="Microsoft YaHei"/>
              </a:rPr>
              <a:t>C=4 聚合 +195%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754880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E8EEF2"/>
                </a:solidFill>
                <a:latin typeface="Microsoft YaHei"/>
              </a:rPr>
              <a:t>局部指令优化只换来约 10% compute 改善；真正跃迁来自放置与编排。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03 /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正确性与适用边界，和性能一起验收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把可以承诺的范围写清楚，方便复现和复用。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120640" cy="3977639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97D37E"/>
                </a:solidFill>
                <a:latin typeface="Microsoft YaHei"/>
              </a:rPr>
              <a:t>正确性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97480"/>
            <a:ext cx="201168" cy="201168"/>
          </a:xfrm>
          <a:prstGeom prst="rect">
            <a:avLst/>
          </a:prstGeom>
          <a:solidFill>
            <a:srgbClr val="97D37E"/>
          </a:solidFill>
          <a:ln>
            <a:solidFill>
              <a:srgbClr val="97D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35608" y="2688336"/>
            <a:ext cx="12344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8EEF2"/>
                </a:solidFill>
                <a:latin typeface="Microsoft YaHei"/>
              </a:rPr>
              <a:t>u32 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88336"/>
            <a:ext cx="2697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host-func / async 逐位全等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355848"/>
            <a:ext cx="201168" cy="201168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35608" y="3346704"/>
            <a:ext cx="12344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8EEF2"/>
                </a:solidFill>
                <a:latin typeface="Microsoft YaHei"/>
              </a:rPr>
              <a:t>Greedy 文本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46704"/>
            <a:ext cx="2697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5 / 5 prompt 完全一致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014216"/>
            <a:ext cx="201168" cy="201168"/>
          </a:xfrm>
          <a:prstGeom prst="rect">
            <a:avLst/>
          </a:prstGeom>
          <a:solidFill>
            <a:srgbClr val="699DD5"/>
          </a:solidFill>
          <a:ln>
            <a:solidFill>
              <a:srgbClr val="699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35608" y="4005072"/>
            <a:ext cx="12344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8EEF2"/>
                </a:solidFill>
                <a:latin typeface="Microsoft YaHei"/>
              </a:rPr>
              <a:t>CUDA 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05072"/>
            <a:ext cx="2697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启动与运行期：0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72584"/>
            <a:ext cx="201168" cy="201168"/>
          </a:xfrm>
          <a:prstGeom prst="rect">
            <a:avLst/>
          </a:prstGeom>
          <a:solidFill>
            <a:srgbClr val="E6A153"/>
          </a:solidFill>
          <a:ln>
            <a:solidFill>
              <a:srgbClr val="E6A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35608" y="4663440"/>
            <a:ext cx="12344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8EEF2"/>
                </a:solidFill>
                <a:latin typeface="Microsoft YaHei"/>
              </a:rPr>
              <a:t>数值门禁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63440"/>
            <a:ext cx="2697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OK=7 BAD=1，与基线相同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120640" cy="3977639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057400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E6A153"/>
                </a:solidFill>
                <a:latin typeface="Microsoft YaHei"/>
              </a:rPr>
              <a:t>适用范围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24912"/>
            <a:ext cx="44348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Microsoft YaHei"/>
              </a:rPr>
              <a:t>—  C=1–4 的单人 / 小组交互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19272"/>
            <a:ext cx="44348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Microsoft YaHei"/>
              </a:rPr>
              <a:t>—  私有化、离网、可审计部署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13632"/>
            <a:ext cx="44348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dirty="0">
                <a:solidFill>
                  <a:srgbClr val="9DADB9"/>
                </a:solidFill>
                <a:latin typeface="Microsoft YaHei"/>
              </a:rPr>
              <a:t>—  </a:t>
            </a:r>
            <a:r>
              <a:rPr sz="1400" b="0" dirty="0" err="1">
                <a:solidFill>
                  <a:srgbClr val="9DADB9"/>
                </a:solidFill>
                <a:latin typeface="Microsoft YaHei"/>
              </a:rPr>
              <a:t>不追求高并发服务</a:t>
            </a:r>
            <a:endParaRPr sz="14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4507992"/>
            <a:ext cx="44348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dirty="0">
                <a:solidFill>
                  <a:srgbClr val="9DADB9"/>
                </a:solidFill>
                <a:latin typeface="Microsoft YaHei"/>
              </a:rPr>
              <a:t>—  </a:t>
            </a:r>
            <a:r>
              <a:rPr lang="zh-CN" altLang="en-US" sz="1400" b="0" dirty="0">
                <a:solidFill>
                  <a:srgbClr val="9DADB9"/>
                </a:solidFill>
                <a:latin typeface="Microsoft YaHei"/>
              </a:rPr>
              <a:t>不承诺与闭源引擎逐字节输出契约一致</a:t>
            </a:r>
            <a:endParaRPr sz="1400" b="0" dirty="0">
              <a:solidFill>
                <a:srgbClr val="9DADB9"/>
              </a:solidFill>
              <a:latin typeface="Microsoft YaHe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>
                <a:solidFill>
                  <a:srgbClr val="36C2B5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966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E8EEF2"/>
                </a:solidFill>
                <a:latin typeface="Microsoft YaHei"/>
              </a:rPr>
              <a:t>经验与下一步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8869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9DADB9"/>
                </a:solidFill>
                <a:latin typeface="Microsoft YaHei"/>
              </a:rPr>
              <a:t>AI 负责重实验，人负责方向、判据和取舍。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840480"/>
            <a:ext cx="2816352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9893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vllm-xtu-moe  ·  刘锋  ·  2026-09-15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技术宣讲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04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AI 的优势是实验密度，人类的优势是换搜索空间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四个决定性输入，直接改变了优化方向。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324612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14884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36C2B5"/>
                </a:solidFill>
                <a:latin typeface="Microsoft YaHei"/>
              </a:rPr>
              <a:t>AI 负责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24712" y="2651760"/>
            <a:ext cx="2670048" cy="0"/>
          </a:xfrm>
          <a:prstGeom prst="line">
            <a:avLst/>
          </a:prstGeom>
          <a:ln w="1905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24712" y="2971800"/>
            <a:ext cx="26517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Microsoft YaHei"/>
              </a:rPr>
              <a:t>分钟级微基准
批量实验与记录
局部实现与回归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19"/>
            <a:ext cx="3246120" cy="35204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2" y="214884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E6A153"/>
                </a:solidFill>
                <a:latin typeface="Microsoft YaHei"/>
              </a:rPr>
              <a:t>人类给出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28032" y="2651760"/>
            <a:ext cx="2670047" cy="0"/>
          </a:xfrm>
          <a:prstGeom prst="line">
            <a:avLst/>
          </a:prstGeom>
          <a:ln w="19050">
            <a:solidFill>
              <a:srgbClr val="E6A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28032" y="2971800"/>
            <a:ext cx="26517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Microsoft YaHei"/>
              </a:rPr>
              <a:t>何时结案
参考数字与量级
架构放置与硬约束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874519"/>
            <a:ext cx="3246120" cy="3520440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1" y="214884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97D37E"/>
                </a:solidFill>
                <a:latin typeface="Microsoft YaHei"/>
              </a:rPr>
              <a:t>破局结果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31351" y="2651760"/>
            <a:ext cx="2670049" cy="0"/>
          </a:xfrm>
          <a:prstGeom prst="line">
            <a:avLst/>
          </a:prstGeom>
          <a:ln w="19050">
            <a:solidFill>
              <a:srgbClr val="97D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1351" y="2971800"/>
            <a:ext cx="26517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Microsoft YaHei"/>
              </a:rPr>
              <a:t>停止 30 轮局部死循环
发现投机模型应全放 GPU
把接受率目标校准到生产量级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806440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Microsoft YaHei"/>
              </a:rPr>
              <a:t>结论：方向、判据、地面真值和取舍，不能从局部性能数据里自动推出来。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04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九条铁律，把试错沉淀成可复用约束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最有价值的不是某个旋钮，而是知道哪些旋钮不该再拧。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3891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36C2B5"/>
                </a:solidFill>
                <a:latin typeface="Microsoft YaHei"/>
              </a:rPr>
              <a:t>R1–R5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95728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496312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每 CCD 只用 4–5 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62656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063240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每 rank 只读本地 socket 内存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29584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630168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先量分解，再谈优化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096512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197096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先算 roofline，再谈目标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64024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只信 numa_maps 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19"/>
            <a:ext cx="43891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E6A153"/>
                </a:solidFill>
                <a:latin typeface="Microsoft YaHei"/>
              </a:rPr>
              <a:t>R6–R9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95728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2496312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同一协议、同一负载、同一口径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962656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063240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草稿模型永远全放 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29584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630168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mapped flag 必须构造期分配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96512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197096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负结果写入台账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663440"/>
            <a:ext cx="4617720" cy="384048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764024"/>
            <a:ext cx="4251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E8EEF2"/>
                </a:solidFill>
                <a:latin typeface="Microsoft YaHei"/>
              </a:rPr>
              <a:t>优先复用，再自研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36C2B5"/>
                </a:solidFill>
                <a:latin typeface="Microsoft YaHei"/>
              </a:rPr>
              <a:t>04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>
                <a:solidFill>
                  <a:srgbClr val="E8EEF2"/>
                </a:solidFill>
                <a:latin typeface="Microsoft YaHei"/>
              </a:rPr>
              <a:t>路线图：从“能跑”走向“可复用”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424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9DADB9"/>
                </a:solidFill>
                <a:latin typeface="Microsoft YaHei"/>
              </a:rPr>
              <a:t>后续重点是固定成本、显存再平衡，以及更容易跟随 vLLM 主线的接口形态。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3246120" cy="21488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36C2B5"/>
                </a:solidFill>
                <a:latin typeface="Microsoft YaHei"/>
              </a:rPr>
              <a:t>近期 1–2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E8EEF2"/>
                </a:solidFill>
                <a:latin typeface="Microsoft YaHei"/>
              </a:rPr>
              <a:t>P0 / 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2743200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200" dirty="0" err="1">
                <a:solidFill>
                  <a:srgbClr val="9DADB9"/>
                </a:solidFill>
                <a:latin typeface="Microsoft YaHei"/>
              </a:rPr>
              <a:t>性能优化</a:t>
            </a:r>
            <a:endParaRPr lang="en-US" sz="1200" dirty="0">
              <a:solidFill>
                <a:srgbClr val="9DADB9"/>
              </a:solidFill>
              <a:latin typeface="Microsoft YaHei"/>
            </a:endParaRPr>
          </a:p>
          <a:p>
            <a:pPr algn="l"/>
            <a:endParaRPr lang="en-US" sz="1200" b="0" dirty="0">
              <a:solidFill>
                <a:srgbClr val="9DADB9"/>
              </a:solidFill>
              <a:latin typeface="Microsoft YaHei"/>
            </a:endParaRPr>
          </a:p>
          <a:p>
            <a:pPr algn="l"/>
            <a:r>
              <a:rPr lang="en-US" sz="1200" dirty="0" err="1">
                <a:solidFill>
                  <a:srgbClr val="9DADB9"/>
                </a:solidFill>
                <a:latin typeface="Microsoft YaHei"/>
              </a:rPr>
              <a:t>支持更多开源模型</a:t>
            </a:r>
            <a:endParaRPr sz="12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0" y="1874519"/>
            <a:ext cx="3246120" cy="21488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212140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97D37E"/>
                </a:solidFill>
                <a:latin typeface="Microsoft YaHei"/>
              </a:rPr>
              <a:t>中期 3–6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78608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E8EEF2"/>
                </a:solidFill>
                <a:latin typeface="Microsoft YaHei"/>
              </a:rPr>
              <a:t>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54680"/>
            <a:ext cx="2743200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zh-CN" altLang="en-US" sz="1200" b="0" dirty="0">
                <a:solidFill>
                  <a:srgbClr val="9DADB9"/>
                </a:solidFill>
                <a:latin typeface="Microsoft YaHei"/>
              </a:rPr>
              <a:t>性能优化</a:t>
            </a:r>
            <a:endParaRPr lang="en-US" altLang="zh-CN" sz="1200" b="0" dirty="0">
              <a:solidFill>
                <a:srgbClr val="9DADB9"/>
              </a:solidFill>
              <a:latin typeface="Microsoft YaHei"/>
            </a:endParaRPr>
          </a:p>
          <a:p>
            <a:pPr algn="l"/>
            <a:endParaRPr lang="en-US" sz="1200" dirty="0">
              <a:solidFill>
                <a:srgbClr val="9DADB9"/>
              </a:solidFill>
              <a:latin typeface="Microsoft YaHei"/>
            </a:endParaRPr>
          </a:p>
          <a:p>
            <a:pPr algn="l"/>
            <a:r>
              <a:rPr lang="en-US" sz="1200" dirty="0" err="1">
                <a:solidFill>
                  <a:srgbClr val="9DADB9"/>
                </a:solidFill>
                <a:latin typeface="Microsoft YaHei"/>
              </a:rPr>
              <a:t>在同级别更新硬件平台上实现双倍性能</a:t>
            </a:r>
            <a:endParaRPr sz="12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75319" y="1874519"/>
            <a:ext cx="3246120" cy="2148840"/>
          </a:xfrm>
          <a:prstGeom prst="rect">
            <a:avLst/>
          </a:prstGeom>
          <a:solidFill>
            <a:srgbClr val="152231"/>
          </a:solidFill>
          <a:ln>
            <a:solidFill>
              <a:srgbClr val="15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19" y="212140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E6A153"/>
                </a:solidFill>
                <a:latin typeface="Microsoft YaHei"/>
              </a:rPr>
              <a:t>长期 6–12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578608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E8EEF2"/>
                </a:solidFill>
                <a:latin typeface="Microsoft YaHei"/>
              </a:rPr>
              <a:t>解耦式推理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3154680"/>
            <a:ext cx="2880361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dirty="0">
                <a:solidFill>
                  <a:srgbClr val="9DADB9"/>
                </a:solidFill>
                <a:latin typeface="Microsoft YaHei"/>
              </a:rPr>
              <a:t>CPU </a:t>
            </a:r>
            <a:r>
              <a:rPr sz="1200" b="0" dirty="0" err="1">
                <a:solidFill>
                  <a:srgbClr val="9DADB9"/>
                </a:solidFill>
                <a:latin typeface="Microsoft YaHei"/>
              </a:rPr>
              <a:t>专家池</a:t>
            </a:r>
            <a:r>
              <a:rPr sz="1200" b="0" dirty="0">
                <a:solidFill>
                  <a:srgbClr val="9DADB9"/>
                </a:solidFill>
                <a:latin typeface="Microsoft YaHei"/>
              </a:rPr>
              <a:t> + GPU </a:t>
            </a:r>
            <a:r>
              <a:rPr sz="1200" b="0" dirty="0" err="1">
                <a:solidFill>
                  <a:srgbClr val="9DADB9"/>
                </a:solidFill>
                <a:latin typeface="Microsoft YaHei"/>
              </a:rPr>
              <a:t>注意力池；跨机扩展</a:t>
            </a:r>
            <a:endParaRPr lang="en-US" sz="1200" b="0" dirty="0">
              <a:solidFill>
                <a:srgbClr val="9DADB9"/>
              </a:solidFill>
              <a:latin typeface="Microsoft YaHei"/>
            </a:endParaRPr>
          </a:p>
          <a:p>
            <a:pPr algn="l"/>
            <a:endParaRPr lang="en-US" altLang="zh-CN" sz="1200" dirty="0">
              <a:solidFill>
                <a:srgbClr val="9DADB9"/>
              </a:solidFill>
              <a:latin typeface="Microsoft YaHei"/>
            </a:endParaRPr>
          </a:p>
          <a:p>
            <a:pPr algn="l"/>
            <a:r>
              <a:rPr lang="zh-CN" altLang="en-US" sz="1200" dirty="0">
                <a:solidFill>
                  <a:srgbClr val="9DADB9"/>
                </a:solidFill>
                <a:latin typeface="Microsoft YaHei"/>
              </a:rPr>
              <a:t>国产</a:t>
            </a:r>
            <a:r>
              <a:rPr lang="en-US" altLang="zh-CN" sz="1200" dirty="0">
                <a:solidFill>
                  <a:srgbClr val="9DADB9"/>
                </a:solidFill>
                <a:latin typeface="Microsoft YaHei"/>
              </a:rPr>
              <a:t>GPU</a:t>
            </a:r>
            <a:r>
              <a:rPr lang="zh-CN" altLang="en-US" sz="1200" dirty="0">
                <a:solidFill>
                  <a:srgbClr val="9DADB9"/>
                </a:solidFill>
                <a:latin typeface="Microsoft YaHei"/>
              </a:rPr>
              <a:t>支持</a:t>
            </a:r>
            <a:endParaRPr sz="1200" b="0" dirty="0">
              <a:solidFill>
                <a:srgbClr val="9DADB9"/>
              </a:solidFill>
              <a:latin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" y="4617720"/>
            <a:ext cx="10515600" cy="914400"/>
          </a:xfrm>
          <a:prstGeom prst="rect">
            <a:avLst/>
          </a:prstGeom>
          <a:solidFill>
            <a:srgbClr val="182B30"/>
          </a:solidFill>
          <a:ln>
            <a:solidFill>
              <a:srgbClr val="18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864608"/>
            <a:ext cx="9966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E8EEF2"/>
                </a:solidFill>
                <a:latin typeface="Microsoft YaHei"/>
              </a:rPr>
              <a:t>长期愿景：把“可观测、可改造、可审计”的异构推理能力，沉淀为可复用的 vLLM 外部 MoE backend。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数据：本机实测；协议见报告 §6.2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C2B5"/>
          </a:solidFill>
          <a:ln>
            <a:solidFill>
              <a:srgbClr val="36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102412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E8EEF2"/>
                </a:solidFill>
                <a:latin typeface="Microsoft YaHei"/>
              </a:rPr>
              <a:t>我们证明了一件事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74519"/>
            <a:ext cx="1024128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dirty="0" err="1">
                <a:solidFill>
                  <a:srgbClr val="36C2B5"/>
                </a:solidFill>
                <a:latin typeface="Microsoft YaHei"/>
              </a:rPr>
              <a:t>买不起</a:t>
            </a:r>
            <a:r>
              <a:rPr sz="2800" b="1" dirty="0">
                <a:solidFill>
                  <a:srgbClr val="36C2B5"/>
                </a:solidFill>
                <a:latin typeface="Microsoft YaHei"/>
              </a:rPr>
              <a:t> GPU </a:t>
            </a:r>
            <a:r>
              <a:rPr sz="2800" b="1" dirty="0" err="1">
                <a:solidFill>
                  <a:srgbClr val="36C2B5"/>
                </a:solidFill>
                <a:latin typeface="Microsoft YaHei"/>
              </a:rPr>
              <a:t>集群的团队，也能在自己的服务器上运行满血最新超大模型</a:t>
            </a:r>
            <a:r>
              <a:rPr sz="2800" b="1" dirty="0">
                <a:solidFill>
                  <a:srgbClr val="36C2B5"/>
                </a:solidFill>
                <a:latin typeface="Microsoft YaHei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246120"/>
            <a:ext cx="3657600" cy="0"/>
          </a:xfrm>
          <a:prstGeom prst="line">
            <a:avLst/>
          </a:prstGeom>
          <a:ln w="25400">
            <a:solidFill>
              <a:srgbClr val="36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3541033"/>
            <a:ext cx="10259568" cy="114492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b="1" dirty="0" err="1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满足科研、个人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小组生产需求</a:t>
            </a:r>
            <a:endParaRPr lang="en-US" altLang="zh-CN" b="1" dirty="0">
              <a:solidFill>
                <a:srgbClr val="E8EE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Harness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Agentic App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支持下，长程缓冲命中率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&gt;99%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，本项目就是自我支持的开发
</a:t>
            </a:r>
            <a:r>
              <a:rPr b="1" dirty="0" err="1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过程可观测，代码可改造，部署可自主控制</a:t>
            </a:r>
            <a:endParaRPr lang="en-US" b="1" dirty="0">
              <a:solidFill>
                <a:srgbClr val="E8EE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使用低成本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DRAM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容纳更大的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deepseek-v4.1-flash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模型（</a:t>
            </a:r>
            <a:r>
              <a:rPr lang="en-US" altLang="zh-CN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500B</a:t>
            </a:r>
            <a:r>
              <a:rPr lang="zh-CN" altLang="en-US" b="1" dirty="0">
                <a:solidFill>
                  <a:srgbClr val="E8EE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参数）乃至万亿参数模型</a:t>
            </a:r>
            <a:endParaRPr b="1" dirty="0">
              <a:solidFill>
                <a:srgbClr val="E8EE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8686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97D37E"/>
                </a:solidFill>
                <a:latin typeface="Microsoft YaHei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064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>
                <a:solidFill>
                  <a:srgbClr val="9DADB9"/>
                </a:solidFill>
                <a:latin typeface="Microsoft YaHei"/>
              </a:rPr>
              <a:t>刘锋  ·  2026-09-15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36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537960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DADB9"/>
                </a:solidFill>
                <a:latin typeface="Microsoft YaHei"/>
              </a:rPr>
              <a:t>vllm-xtu-moe · 技术宣讲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37960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>
                <a:solidFill>
                  <a:srgbClr val="9DADB9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1084</Words>
  <Application>Microsoft Macintosh PowerPoint</Application>
  <PresentationFormat>宽屏</PresentationFormat>
  <Paragraphs>267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lf</cp:lastModifiedBy>
  <cp:revision>11</cp:revision>
  <dcterms:created xsi:type="dcterms:W3CDTF">2013-01-27T09:14:16Z</dcterms:created>
  <dcterms:modified xsi:type="dcterms:W3CDTF">2026-09-14T06:00:56Z</dcterms:modified>
  <cp:category/>
</cp:coreProperties>
</file>